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1"/>
  </p:notesMasterIdLst>
  <p:sldIdLst>
    <p:sldId id="256" r:id="rId2"/>
    <p:sldId id="283" r:id="rId3"/>
    <p:sldId id="260" r:id="rId4"/>
    <p:sldId id="274" r:id="rId5"/>
    <p:sldId id="265" r:id="rId6"/>
    <p:sldId id="281" r:id="rId7"/>
    <p:sldId id="271" r:id="rId8"/>
    <p:sldId id="282" r:id="rId9"/>
    <p:sldId id="275" r:id="rId10"/>
  </p:sldIdLst>
  <p:sldSz cx="9144000" cy="5143500" type="screen16x9"/>
  <p:notesSz cx="6858000" cy="9144000"/>
  <p:embeddedFontLst>
    <p:embeddedFont>
      <p:font typeface="Epilogue" panose="020B0604020202020204" charset="0"/>
      <p:regular r:id="rId12"/>
      <p:bold r:id="rId13"/>
      <p:italic r:id="rId14"/>
      <p:boldItalic r:id="rId15"/>
    </p:embeddedFont>
    <p:embeddedFont>
      <p:font typeface="Josefin Sans" pitchFamily="2" charset="0"/>
      <p:regular r:id="rId16"/>
      <p:bold r:id="rId17"/>
      <p:italic r:id="rId18"/>
      <p:boldItalic r:id="rId19"/>
    </p:embeddedFont>
    <p:embeddedFont>
      <p:font typeface="Proxima Nova" panose="020B0604020202020204" charset="0"/>
      <p:regular r:id="rId20"/>
      <p:bold r:id="rId21"/>
      <p:italic r:id="rId22"/>
      <p:boldItalic r:id="rId23"/>
    </p:embeddedFont>
    <p:embeddedFont>
      <p:font typeface="Proxima Nova Semibold" panose="020B0604020202020204" charset="0"/>
      <p:regular r:id="rId24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9074BE-1D2C-4E7B-91B4-5E29A8CA15E3}">
  <a:tblStyle styleId="{7B9074BE-1D2C-4E7B-91B4-5E29A8CA15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Z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21caab1d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182" name="Google Shape;182;g121caab1d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>
          <a:extLst>
            <a:ext uri="{FF2B5EF4-FFF2-40B4-BE49-F238E27FC236}">
              <a16:creationId xmlns:a16="http://schemas.microsoft.com/office/drawing/2014/main" id="{1F431C0F-6546-09DD-9B9F-30498335A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21caab1d12_0_0:notes">
            <a:extLst>
              <a:ext uri="{FF2B5EF4-FFF2-40B4-BE49-F238E27FC236}">
                <a16:creationId xmlns:a16="http://schemas.microsoft.com/office/drawing/2014/main" id="{0AA41B6A-14BB-8A47-BA35-61B927B5A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182" name="Google Shape;182;g121caab1d12_0_0:notes">
            <a:extLst>
              <a:ext uri="{FF2B5EF4-FFF2-40B4-BE49-F238E27FC236}">
                <a16:creationId xmlns:a16="http://schemas.microsoft.com/office/drawing/2014/main" id="{2D261D8C-6900-676C-0991-0776ECDE5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3296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420fcadb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230" name="Google Shape;230;g12420fcadb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0eae55d5d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36" name="Google Shape;436;g10eae55d5d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1ea1d9433b_0_1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310" name="Google Shape;310;g11ea1d9433b_0_1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C3BA1059-C777-0685-2170-30EBBB4D7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0eae55d5d0_0_132:notes">
            <a:extLst>
              <a:ext uri="{FF2B5EF4-FFF2-40B4-BE49-F238E27FC236}">
                <a16:creationId xmlns:a16="http://schemas.microsoft.com/office/drawing/2014/main" id="{87FA02F5-60C2-9901-6A46-05149A7C3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36" name="Google Shape;436;g10eae55d5d0_0_132:notes">
            <a:extLst>
              <a:ext uri="{FF2B5EF4-FFF2-40B4-BE49-F238E27FC236}">
                <a16:creationId xmlns:a16="http://schemas.microsoft.com/office/drawing/2014/main" id="{94026956-8ED3-43C8-BE08-61D7CB658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945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cc9050bdf8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390" name="Google Shape;390;gcc9050bdf8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31F4E247-DA2F-C6A2-920E-D3DFD24C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0eae55d5d0_0_132:notes">
            <a:extLst>
              <a:ext uri="{FF2B5EF4-FFF2-40B4-BE49-F238E27FC236}">
                <a16:creationId xmlns:a16="http://schemas.microsoft.com/office/drawing/2014/main" id="{429749F4-F823-582A-5D8A-55A25D728F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36" name="Google Shape;436;g10eae55d5d0_0_132:notes">
            <a:extLst>
              <a:ext uri="{FF2B5EF4-FFF2-40B4-BE49-F238E27FC236}">
                <a16:creationId xmlns:a16="http://schemas.microsoft.com/office/drawing/2014/main" id="{DC5B8C37-0A38-B647-9FC9-B20682A49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2095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24aaebb4d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ZA"/>
          </a:p>
        </p:txBody>
      </p:sp>
      <p:sp>
        <p:nvSpPr>
          <p:cNvPr id="451" name="Google Shape;451;g124aaebb4d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497395"/>
            <a:ext cx="5892300" cy="282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4121395"/>
            <a:ext cx="3852000" cy="4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163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5622275" y="2596475"/>
            <a:ext cx="2801700" cy="11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7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5622275" y="3946100"/>
            <a:ext cx="2658600" cy="6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622275" y="1210050"/>
            <a:ext cx="1728900" cy="118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953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Numbers and text 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 hasCustomPrompt="1"/>
          </p:nvPr>
        </p:nvSpPr>
        <p:spPr>
          <a:xfrm>
            <a:off x="946225" y="4001514"/>
            <a:ext cx="19068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3" name="Google Shape;133;p26"/>
          <p:cNvSpPr txBox="1">
            <a:spLocks noGrp="1"/>
          </p:cNvSpPr>
          <p:nvPr>
            <p:ph type="title" idx="2" hasCustomPrompt="1"/>
          </p:nvPr>
        </p:nvSpPr>
        <p:spPr>
          <a:xfrm>
            <a:off x="3616650" y="4001514"/>
            <a:ext cx="19068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6"/>
          <p:cNvSpPr txBox="1">
            <a:spLocks noGrp="1"/>
          </p:cNvSpPr>
          <p:nvPr>
            <p:ph type="title" idx="3" hasCustomPrompt="1"/>
          </p:nvPr>
        </p:nvSpPr>
        <p:spPr>
          <a:xfrm>
            <a:off x="6298490" y="4001514"/>
            <a:ext cx="19068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sz="12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1"/>
          </p:nvPr>
        </p:nvSpPr>
        <p:spPr>
          <a:xfrm>
            <a:off x="946225" y="3310950"/>
            <a:ext cx="19068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ubTitle" idx="4"/>
          </p:nvPr>
        </p:nvSpPr>
        <p:spPr>
          <a:xfrm>
            <a:off x="3616650" y="3310950"/>
            <a:ext cx="19068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subTitle" idx="5"/>
          </p:nvPr>
        </p:nvSpPr>
        <p:spPr>
          <a:xfrm>
            <a:off x="6298490" y="3310950"/>
            <a:ext cx="1906800" cy="5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ubTitle" idx="6"/>
          </p:nvPr>
        </p:nvSpPr>
        <p:spPr>
          <a:xfrm>
            <a:off x="946225" y="2954052"/>
            <a:ext cx="1906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2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subTitle" idx="7"/>
          </p:nvPr>
        </p:nvSpPr>
        <p:spPr>
          <a:xfrm>
            <a:off x="3616650" y="2954052"/>
            <a:ext cx="1906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2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subTitle" idx="8"/>
          </p:nvPr>
        </p:nvSpPr>
        <p:spPr>
          <a:xfrm>
            <a:off x="6298490" y="2954052"/>
            <a:ext cx="1906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2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84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724621" y="2596475"/>
            <a:ext cx="2872800" cy="11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1"/>
          </p:nvPr>
        </p:nvSpPr>
        <p:spPr>
          <a:xfrm>
            <a:off x="724621" y="3946100"/>
            <a:ext cx="2872800" cy="6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 idx="2" hasCustomPrompt="1"/>
          </p:nvPr>
        </p:nvSpPr>
        <p:spPr>
          <a:xfrm>
            <a:off x="724621" y="1210050"/>
            <a:ext cx="1868100" cy="118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851824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3739200" y="1505246"/>
            <a:ext cx="4684800" cy="213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3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670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>
            <a:spLocks noGrp="1"/>
          </p:cNvSpPr>
          <p:nvPr>
            <p:ph type="title"/>
          </p:nvPr>
        </p:nvSpPr>
        <p:spPr>
          <a:xfrm>
            <a:off x="721575" y="54077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978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76" name="Google Shape;176;p3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688" r:id="rId3"/>
    <p:sldLayoutId id="2147483690" r:id="rId4"/>
    <p:sldLayoutId id="2147483693" r:id="rId5"/>
    <p:sldLayoutId id="214748369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8"/>
          <p:cNvPicPr preferRelativeResize="0"/>
          <p:nvPr/>
        </p:nvPicPr>
        <p:blipFill rotWithShape="1">
          <a:blip r:embed="rId3">
            <a:alphaModFix/>
          </a:blip>
          <a:srcRect l="10309" t="17163" r="15943"/>
          <a:stretch/>
        </p:blipFill>
        <p:spPr>
          <a:xfrm flipH="1">
            <a:off x="4897326" y="0"/>
            <a:ext cx="4246674" cy="31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8"/>
          <p:cNvSpPr/>
          <p:nvPr/>
        </p:nvSpPr>
        <p:spPr>
          <a:xfrm>
            <a:off x="0" y="1824450"/>
            <a:ext cx="6262800" cy="7473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8"/>
          <p:cNvSpPr txBox="1">
            <a:spLocks noGrp="1"/>
          </p:cNvSpPr>
          <p:nvPr>
            <p:ph type="ctrTitle"/>
          </p:nvPr>
        </p:nvSpPr>
        <p:spPr>
          <a:xfrm>
            <a:off x="185250" y="1214898"/>
            <a:ext cx="5892300" cy="28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Bright Mart Retail Sales Analysis</a:t>
            </a:r>
            <a:endParaRPr dirty="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>
          <a:extLst>
            <a:ext uri="{FF2B5EF4-FFF2-40B4-BE49-F238E27FC236}">
              <a16:creationId xmlns:a16="http://schemas.microsoft.com/office/drawing/2014/main" id="{156AA5E6-DA84-D17F-DAE7-6AFC4902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8">
            <a:extLst>
              <a:ext uri="{FF2B5EF4-FFF2-40B4-BE49-F238E27FC236}">
                <a16:creationId xmlns:a16="http://schemas.microsoft.com/office/drawing/2014/main" id="{83FE26DF-2888-C3F9-E028-75032E09C948}"/>
              </a:ext>
            </a:extLst>
          </p:cNvPr>
          <p:cNvSpPr/>
          <p:nvPr/>
        </p:nvSpPr>
        <p:spPr>
          <a:xfrm>
            <a:off x="743414" y="237892"/>
            <a:ext cx="6356196" cy="7206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8">
            <a:extLst>
              <a:ext uri="{FF2B5EF4-FFF2-40B4-BE49-F238E27FC236}">
                <a16:creationId xmlns:a16="http://schemas.microsoft.com/office/drawing/2014/main" id="{1853B898-1912-E59C-34E5-9FE8EF51990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46166" y="-825560"/>
            <a:ext cx="6676468" cy="28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Bright Mart Retail Problem Statement</a:t>
            </a:r>
            <a:endParaRPr sz="3000" dirty="0">
              <a:solidFill>
                <a:srgbClr val="CC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24667A-E3F9-5B19-C0FA-7B081EC111A4}"/>
              </a:ext>
            </a:extLst>
          </p:cNvPr>
          <p:cNvSpPr txBox="1"/>
          <p:nvPr/>
        </p:nvSpPr>
        <p:spPr>
          <a:xfrm>
            <a:off x="743414" y="1578501"/>
            <a:ext cx="762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Bright Mart is experiencing uneven performance across products, regions, and customer groups. While categories such as </a:t>
            </a:r>
            <a:r>
              <a:rPr lang="en-US" sz="1600" b="1" dirty="0">
                <a:solidFill>
                  <a:schemeClr val="bg1"/>
                </a:solidFill>
              </a:rPr>
              <a:t>Clothing and Beauty</a:t>
            </a:r>
            <a:r>
              <a:rPr lang="en-US" sz="1600" dirty="0">
                <a:solidFill>
                  <a:schemeClr val="bg1"/>
                </a:solidFill>
              </a:rPr>
              <a:t> and regions like the </a:t>
            </a:r>
            <a:r>
              <a:rPr lang="en-US" sz="1600" b="1" dirty="0">
                <a:solidFill>
                  <a:schemeClr val="bg1"/>
                </a:solidFill>
              </a:rPr>
              <a:t>Eastern Cape</a:t>
            </a:r>
            <a:r>
              <a:rPr lang="en-US" sz="1600" dirty="0">
                <a:solidFill>
                  <a:schemeClr val="bg1"/>
                </a:solidFill>
              </a:rPr>
              <a:t> show strong revenue and high demand, other area particularly </a:t>
            </a:r>
            <a:r>
              <a:rPr lang="en-US" sz="1600" b="1" dirty="0">
                <a:solidFill>
                  <a:schemeClr val="bg1"/>
                </a:solidFill>
              </a:rPr>
              <a:t>Home Appliances, Electronics</a:t>
            </a:r>
            <a:r>
              <a:rPr lang="en-US" sz="1600" dirty="0">
                <a:solidFill>
                  <a:schemeClr val="bg1"/>
                </a:solidFill>
              </a:rPr>
              <a:t>, and certain age groups are underperforming. Additionally, procurement costs represent a significant </a:t>
            </a:r>
            <a:r>
              <a:rPr lang="en-US" sz="1600" b="1" dirty="0">
                <a:solidFill>
                  <a:schemeClr val="bg1"/>
                </a:solidFill>
              </a:rPr>
              <a:t>65% of total sales</a:t>
            </a:r>
            <a:r>
              <a:rPr lang="en-US" sz="1600" dirty="0">
                <a:solidFill>
                  <a:schemeClr val="bg1"/>
                </a:solidFill>
              </a:rPr>
              <a:t>, reducing the potential for higher profit margins.</a:t>
            </a:r>
            <a:endParaRPr lang="en-ZA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20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2"/>
          <p:cNvPicPr preferRelativeResize="0"/>
          <p:nvPr/>
        </p:nvPicPr>
        <p:blipFill rotWithShape="1">
          <a:blip r:embed="rId3">
            <a:alphaModFix/>
          </a:blip>
          <a:srcRect l="14824" r="14817"/>
          <a:stretch/>
        </p:blipFill>
        <p:spPr>
          <a:xfrm flipH="1">
            <a:off x="-1" y="0"/>
            <a:ext cx="54281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2"/>
          <p:cNvSpPr/>
          <p:nvPr/>
        </p:nvSpPr>
        <p:spPr>
          <a:xfrm flipH="1">
            <a:off x="4571975" y="2490875"/>
            <a:ext cx="4572000" cy="1302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Sales Analysis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36" name="Google Shape;236;p42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B0F0"/>
                </a:solidFill>
              </a:rPr>
              <a:t>01.</a:t>
            </a:r>
            <a:endParaRPr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/>
          <p:cNvSpPr/>
          <p:nvPr/>
        </p:nvSpPr>
        <p:spPr>
          <a:xfrm>
            <a:off x="0" y="533663"/>
            <a:ext cx="9144000" cy="461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56"/>
          <p:cNvSpPr txBox="1">
            <a:spLocks noGrp="1"/>
          </p:cNvSpPr>
          <p:nvPr>
            <p:ph type="title"/>
          </p:nvPr>
        </p:nvSpPr>
        <p:spPr>
          <a:xfrm>
            <a:off x="946225" y="537202"/>
            <a:ext cx="1906800" cy="4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44M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40" name="Google Shape;440;p56"/>
          <p:cNvSpPr txBox="1">
            <a:spLocks noGrp="1"/>
          </p:cNvSpPr>
          <p:nvPr>
            <p:ph type="title" idx="2"/>
          </p:nvPr>
        </p:nvSpPr>
        <p:spPr>
          <a:xfrm>
            <a:off x="3616650" y="537202"/>
            <a:ext cx="1906800" cy="4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14.92M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41" name="Google Shape;441;p56"/>
          <p:cNvSpPr txBox="1">
            <a:spLocks noGrp="1"/>
          </p:cNvSpPr>
          <p:nvPr>
            <p:ph type="title" idx="3"/>
          </p:nvPr>
        </p:nvSpPr>
        <p:spPr>
          <a:xfrm>
            <a:off x="6298490" y="537202"/>
            <a:ext cx="1906800" cy="4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28.59 M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45" name="Google Shape;445;p56"/>
          <p:cNvSpPr txBox="1">
            <a:spLocks noGrp="1"/>
          </p:cNvSpPr>
          <p:nvPr>
            <p:ph type="subTitle" idx="1"/>
          </p:nvPr>
        </p:nvSpPr>
        <p:spPr>
          <a:xfrm>
            <a:off x="946225" y="125356"/>
            <a:ext cx="1906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Total Sales</a:t>
            </a:r>
            <a:endParaRPr sz="2000" b="1" dirty="0"/>
          </a:p>
        </p:txBody>
      </p:sp>
      <p:sp>
        <p:nvSpPr>
          <p:cNvPr id="446" name="Google Shape;446;p56"/>
          <p:cNvSpPr txBox="1">
            <a:spLocks noGrp="1"/>
          </p:cNvSpPr>
          <p:nvPr>
            <p:ph type="subTitle" idx="4"/>
          </p:nvPr>
        </p:nvSpPr>
        <p:spPr>
          <a:xfrm>
            <a:off x="3616650" y="133366"/>
            <a:ext cx="1906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Total Profit</a:t>
            </a:r>
            <a:endParaRPr sz="2000" b="1" dirty="0"/>
          </a:p>
        </p:txBody>
      </p:sp>
      <p:sp>
        <p:nvSpPr>
          <p:cNvPr id="447" name="Google Shape;447;p56"/>
          <p:cNvSpPr txBox="1">
            <a:spLocks noGrp="1"/>
          </p:cNvSpPr>
          <p:nvPr>
            <p:ph type="subTitle" idx="5"/>
          </p:nvPr>
        </p:nvSpPr>
        <p:spPr>
          <a:xfrm>
            <a:off x="6350529" y="133366"/>
            <a:ext cx="1906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Total Cost</a:t>
            </a:r>
            <a:endParaRPr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4AD9E-6E41-11CD-9819-4920D87D8617}"/>
              </a:ext>
            </a:extLst>
          </p:cNvPr>
          <p:cNvSpPr txBox="1"/>
          <p:nvPr/>
        </p:nvSpPr>
        <p:spPr>
          <a:xfrm>
            <a:off x="551985" y="1482278"/>
            <a:ext cx="767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Bright Mart Retail generated </a:t>
            </a:r>
            <a:r>
              <a:rPr lang="en-US" b="1" dirty="0"/>
              <a:t>R44M </a:t>
            </a:r>
            <a:r>
              <a:rPr lang="en-US" dirty="0"/>
              <a:t>in total sales, with </a:t>
            </a:r>
            <a:r>
              <a:rPr lang="en-US" b="1" dirty="0"/>
              <a:t>R28.59M in costs</a:t>
            </a:r>
            <a:r>
              <a:rPr lang="en-US" dirty="0"/>
              <a:t> and </a:t>
            </a:r>
            <a:r>
              <a:rPr lang="en-US" b="1" dirty="0"/>
              <a:t>R14.92M </a:t>
            </a:r>
            <a:r>
              <a:rPr lang="en-US" dirty="0"/>
              <a:t>in profit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953008-8A34-DBA9-495E-2A960209FDC4}"/>
              </a:ext>
            </a:extLst>
          </p:cNvPr>
          <p:cNvSpPr txBox="1"/>
          <p:nvPr/>
        </p:nvSpPr>
        <p:spPr>
          <a:xfrm>
            <a:off x="551984" y="1790055"/>
            <a:ext cx="752000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across all provinces in the 2024 financial year.</a:t>
            </a:r>
          </a:p>
          <a:p>
            <a:r>
              <a:rPr lang="en-US" dirty="0"/>
              <a:t>This resulted to a </a:t>
            </a:r>
            <a:r>
              <a:rPr lang="en-US" b="1" dirty="0"/>
              <a:t>34% </a:t>
            </a:r>
            <a:r>
              <a:rPr lang="en-US" dirty="0"/>
              <a:t>profit margin</a:t>
            </a:r>
            <a:r>
              <a:rPr lang="en-ZA" dirty="0"/>
              <a:t> which indicates growth, great performance and profitability.</a:t>
            </a:r>
          </a:p>
          <a:p>
            <a:endParaRPr lang="en-ZA" dirty="0"/>
          </a:p>
          <a:p>
            <a:r>
              <a:rPr lang="en-US" dirty="0"/>
              <a:t>Total Cost  is </a:t>
            </a:r>
            <a:r>
              <a:rPr lang="en-US" b="1" dirty="0"/>
              <a:t>65%</a:t>
            </a:r>
            <a:r>
              <a:rPr lang="en-US" dirty="0"/>
              <a:t> of total sales this reveals that procurement is the biggest expense</a:t>
            </a:r>
          </a:p>
          <a:p>
            <a:endParaRPr lang="en-US" dirty="0"/>
          </a:p>
          <a:p>
            <a:r>
              <a:rPr lang="en-US" b="1" dirty="0"/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 costs by </a:t>
            </a:r>
            <a:r>
              <a:rPr lang="en-US" b="1" dirty="0"/>
              <a:t>10%</a:t>
            </a:r>
            <a:r>
              <a:rPr lang="en-US" dirty="0"/>
              <a:t>  by sourcing alternative suppliers with competitive pricing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Adjust pricing for in demand products slightly without reducing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7"/>
          <p:cNvSpPr/>
          <p:nvPr/>
        </p:nvSpPr>
        <p:spPr>
          <a:xfrm flipH="1">
            <a:off x="-1463" y="2490875"/>
            <a:ext cx="4572000" cy="13029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47"/>
          <p:cNvSpPr txBox="1">
            <a:spLocks noGrp="1"/>
          </p:cNvSpPr>
          <p:nvPr>
            <p:ph type="title"/>
          </p:nvPr>
        </p:nvSpPr>
        <p:spPr>
          <a:xfrm>
            <a:off x="724625" y="2596475"/>
            <a:ext cx="2972400" cy="11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 Analysis</a:t>
            </a:r>
            <a:endParaRPr dirty="0"/>
          </a:p>
        </p:txBody>
      </p:sp>
      <p:sp>
        <p:nvSpPr>
          <p:cNvPr id="316" name="Google Shape;316;p47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B0F0"/>
                </a:solidFill>
              </a:rPr>
              <a:t>02</a:t>
            </a:r>
            <a:endParaRPr dirty="0">
              <a:solidFill>
                <a:srgbClr val="00B0F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1DB871-5138-4584-06BF-047E73AA4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229" y="24725"/>
            <a:ext cx="404045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8236E3AA-D159-7E95-71B8-1E82C6E4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>
            <a:extLst>
              <a:ext uri="{FF2B5EF4-FFF2-40B4-BE49-F238E27FC236}">
                <a16:creationId xmlns:a16="http://schemas.microsoft.com/office/drawing/2014/main" id="{F4378CAD-2AE3-74E5-85EF-2A41C3A55519}"/>
              </a:ext>
            </a:extLst>
          </p:cNvPr>
          <p:cNvSpPr/>
          <p:nvPr/>
        </p:nvSpPr>
        <p:spPr>
          <a:xfrm>
            <a:off x="0" y="533663"/>
            <a:ext cx="9144000" cy="461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A20D5-EDF6-7001-2495-0CACBF0F5684}"/>
              </a:ext>
            </a:extLst>
          </p:cNvPr>
          <p:cNvSpPr txBox="1"/>
          <p:nvPr/>
        </p:nvSpPr>
        <p:spPr>
          <a:xfrm>
            <a:off x="551985" y="1482278"/>
            <a:ext cx="6219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top performing products are Dress,Perfume,Jacket,Shampoo and T-shirt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1A52D-72F0-E843-303C-BA94699364DE}"/>
              </a:ext>
            </a:extLst>
          </p:cNvPr>
          <p:cNvSpPr txBox="1"/>
          <p:nvPr/>
        </p:nvSpPr>
        <p:spPr>
          <a:xfrm>
            <a:off x="551984" y="1790055"/>
            <a:ext cx="77147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clearly shows that the </a:t>
            </a:r>
            <a:r>
              <a:rPr lang="en-US" b="1" dirty="0"/>
              <a:t>Clothing and Beauty </a:t>
            </a:r>
            <a:r>
              <a:rPr lang="en-US" dirty="0"/>
              <a:t>categories</a:t>
            </a:r>
            <a:r>
              <a:rPr lang="en-US" b="1" dirty="0"/>
              <a:t> </a:t>
            </a:r>
            <a:r>
              <a:rPr lang="en-US" dirty="0"/>
              <a:t>are the strongest performers, indicating high customer demand.</a:t>
            </a:r>
          </a:p>
          <a:p>
            <a:endParaRPr lang="en-US" dirty="0"/>
          </a:p>
          <a:p>
            <a:r>
              <a:rPr lang="en-US" dirty="0"/>
              <a:t>Meanwhile Home Appliances and Electronics are preforming poorly regarding revenue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targeted promotions for clothing and beauty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social media campaigns focused on fashion and self-care.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marketing visibility for home appliances and electronics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Advertise bundle offers to encourage sales in the electronics and home appliances 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Google Shape;445;p56">
            <a:extLst>
              <a:ext uri="{FF2B5EF4-FFF2-40B4-BE49-F238E27FC236}">
                <a16:creationId xmlns:a16="http://schemas.microsoft.com/office/drawing/2014/main" id="{DEEEE649-6DB5-08EB-4E26-665FB101549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7152" y="125356"/>
            <a:ext cx="1906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Perfume</a:t>
            </a:r>
            <a:endParaRPr sz="2000" b="1" dirty="0"/>
          </a:p>
        </p:txBody>
      </p:sp>
      <p:sp>
        <p:nvSpPr>
          <p:cNvPr id="15" name="Google Shape;445;p56">
            <a:extLst>
              <a:ext uri="{FF2B5EF4-FFF2-40B4-BE49-F238E27FC236}">
                <a16:creationId xmlns:a16="http://schemas.microsoft.com/office/drawing/2014/main" id="{92A8C572-D510-7C7E-8B63-33AB4E4410CA}"/>
              </a:ext>
            </a:extLst>
          </p:cNvPr>
          <p:cNvSpPr txBox="1">
            <a:spLocks/>
          </p:cNvSpPr>
          <p:nvPr/>
        </p:nvSpPr>
        <p:spPr>
          <a:xfrm>
            <a:off x="1838323" y="125356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-ZA" sz="2000" b="1" dirty="0"/>
              <a:t>Jacket</a:t>
            </a:r>
          </a:p>
        </p:txBody>
      </p:sp>
      <p:sp>
        <p:nvSpPr>
          <p:cNvPr id="16" name="Google Shape;445;p56">
            <a:extLst>
              <a:ext uri="{FF2B5EF4-FFF2-40B4-BE49-F238E27FC236}">
                <a16:creationId xmlns:a16="http://schemas.microsoft.com/office/drawing/2014/main" id="{B590C45E-420A-1287-2EA5-3E9554853128}"/>
              </a:ext>
            </a:extLst>
          </p:cNvPr>
          <p:cNvSpPr txBox="1">
            <a:spLocks/>
          </p:cNvSpPr>
          <p:nvPr/>
        </p:nvSpPr>
        <p:spPr>
          <a:xfrm>
            <a:off x="3325152" y="125356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-ZA" sz="2000" b="1" dirty="0"/>
              <a:t>Dress</a:t>
            </a:r>
          </a:p>
        </p:txBody>
      </p:sp>
      <p:sp>
        <p:nvSpPr>
          <p:cNvPr id="17" name="Google Shape;445;p56">
            <a:extLst>
              <a:ext uri="{FF2B5EF4-FFF2-40B4-BE49-F238E27FC236}">
                <a16:creationId xmlns:a16="http://schemas.microsoft.com/office/drawing/2014/main" id="{30673856-4207-D462-1D3D-335DA4C29938}"/>
              </a:ext>
            </a:extLst>
          </p:cNvPr>
          <p:cNvSpPr txBox="1">
            <a:spLocks/>
          </p:cNvSpPr>
          <p:nvPr/>
        </p:nvSpPr>
        <p:spPr>
          <a:xfrm>
            <a:off x="5153952" y="146634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-ZA" sz="2000" b="1" dirty="0"/>
              <a:t>Shampoo</a:t>
            </a:r>
          </a:p>
        </p:txBody>
      </p:sp>
      <p:sp>
        <p:nvSpPr>
          <p:cNvPr id="18" name="Google Shape;445;p56">
            <a:extLst>
              <a:ext uri="{FF2B5EF4-FFF2-40B4-BE49-F238E27FC236}">
                <a16:creationId xmlns:a16="http://schemas.microsoft.com/office/drawing/2014/main" id="{635B5F46-E7F4-AE26-E571-AD7249B3C1F7}"/>
              </a:ext>
            </a:extLst>
          </p:cNvPr>
          <p:cNvSpPr txBox="1">
            <a:spLocks/>
          </p:cNvSpPr>
          <p:nvPr/>
        </p:nvSpPr>
        <p:spPr>
          <a:xfrm>
            <a:off x="6960048" y="125356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-ZA" sz="2000" b="1" dirty="0"/>
              <a:t>T-shirt</a:t>
            </a:r>
          </a:p>
        </p:txBody>
      </p:sp>
      <p:sp>
        <p:nvSpPr>
          <p:cNvPr id="19" name="Google Shape;445;p56">
            <a:extLst>
              <a:ext uri="{FF2B5EF4-FFF2-40B4-BE49-F238E27FC236}">
                <a16:creationId xmlns:a16="http://schemas.microsoft.com/office/drawing/2014/main" id="{CC8934BF-251C-3460-AC62-86ACFB04A8FD}"/>
              </a:ext>
            </a:extLst>
          </p:cNvPr>
          <p:cNvSpPr txBox="1">
            <a:spLocks/>
          </p:cNvSpPr>
          <p:nvPr/>
        </p:nvSpPr>
        <p:spPr>
          <a:xfrm>
            <a:off x="255778" y="600634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-ZA" sz="3000" b="1" dirty="0">
                <a:solidFill>
                  <a:schemeClr val="bg1"/>
                </a:solidFill>
              </a:rPr>
              <a:t>1 ,14M</a:t>
            </a:r>
          </a:p>
        </p:txBody>
      </p:sp>
      <p:sp>
        <p:nvSpPr>
          <p:cNvPr id="20" name="Google Shape;445;p56">
            <a:extLst>
              <a:ext uri="{FF2B5EF4-FFF2-40B4-BE49-F238E27FC236}">
                <a16:creationId xmlns:a16="http://schemas.microsoft.com/office/drawing/2014/main" id="{498681DB-5CB4-A06C-CF46-C8C80E6D9D08}"/>
              </a:ext>
            </a:extLst>
          </p:cNvPr>
          <p:cNvSpPr txBox="1">
            <a:spLocks/>
          </p:cNvSpPr>
          <p:nvPr/>
        </p:nvSpPr>
        <p:spPr>
          <a:xfrm>
            <a:off x="1838323" y="601367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-ZA" sz="3000" b="1" dirty="0">
                <a:solidFill>
                  <a:schemeClr val="bg1"/>
                </a:solidFill>
              </a:rPr>
              <a:t>1,24M</a:t>
            </a:r>
          </a:p>
        </p:txBody>
      </p:sp>
      <p:sp>
        <p:nvSpPr>
          <p:cNvPr id="21" name="Google Shape;445;p56">
            <a:extLst>
              <a:ext uri="{FF2B5EF4-FFF2-40B4-BE49-F238E27FC236}">
                <a16:creationId xmlns:a16="http://schemas.microsoft.com/office/drawing/2014/main" id="{550B89E5-B9AA-4D5E-FB69-8C66AD5A4A3F}"/>
              </a:ext>
            </a:extLst>
          </p:cNvPr>
          <p:cNvSpPr txBox="1">
            <a:spLocks/>
          </p:cNvSpPr>
          <p:nvPr/>
        </p:nvSpPr>
        <p:spPr>
          <a:xfrm>
            <a:off x="3298262" y="590982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-ZA" sz="3000" b="1" dirty="0">
                <a:solidFill>
                  <a:schemeClr val="bg1"/>
                </a:solidFill>
              </a:rPr>
              <a:t>1,26M</a:t>
            </a:r>
          </a:p>
        </p:txBody>
      </p:sp>
      <p:sp>
        <p:nvSpPr>
          <p:cNvPr id="22" name="Google Shape;445;p56">
            <a:extLst>
              <a:ext uri="{FF2B5EF4-FFF2-40B4-BE49-F238E27FC236}">
                <a16:creationId xmlns:a16="http://schemas.microsoft.com/office/drawing/2014/main" id="{E0FA40D3-046E-7668-2158-A0E45B7D76FC}"/>
              </a:ext>
            </a:extLst>
          </p:cNvPr>
          <p:cNvSpPr txBox="1">
            <a:spLocks/>
          </p:cNvSpPr>
          <p:nvPr/>
        </p:nvSpPr>
        <p:spPr>
          <a:xfrm>
            <a:off x="5136585" y="609535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-ZA" sz="3000" b="1" dirty="0">
                <a:solidFill>
                  <a:schemeClr val="bg1"/>
                </a:solidFill>
              </a:rPr>
              <a:t>1.19M</a:t>
            </a:r>
          </a:p>
        </p:txBody>
      </p:sp>
      <p:sp>
        <p:nvSpPr>
          <p:cNvPr id="23" name="Google Shape;445;p56">
            <a:extLst>
              <a:ext uri="{FF2B5EF4-FFF2-40B4-BE49-F238E27FC236}">
                <a16:creationId xmlns:a16="http://schemas.microsoft.com/office/drawing/2014/main" id="{C3AFA3CD-4BBC-F5EF-3E59-7BE002A2FDD7}"/>
              </a:ext>
            </a:extLst>
          </p:cNvPr>
          <p:cNvSpPr txBox="1">
            <a:spLocks/>
          </p:cNvSpPr>
          <p:nvPr/>
        </p:nvSpPr>
        <p:spPr>
          <a:xfrm>
            <a:off x="7060752" y="597683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-ZA" sz="3000" b="1" dirty="0">
                <a:solidFill>
                  <a:schemeClr val="bg1"/>
                </a:solidFill>
              </a:rPr>
              <a:t>1,27M</a:t>
            </a:r>
          </a:p>
        </p:txBody>
      </p:sp>
    </p:spTree>
    <p:extLst>
      <p:ext uri="{BB962C8B-B14F-4D97-AF65-F5344CB8AC3E}">
        <p14:creationId xmlns:p14="http://schemas.microsoft.com/office/powerpoint/2010/main" val="3632395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53"/>
          <p:cNvPicPr preferRelativeResize="0"/>
          <p:nvPr/>
        </p:nvPicPr>
        <p:blipFill rotWithShape="1">
          <a:blip r:embed="rId3">
            <a:alphaModFix/>
          </a:blip>
          <a:srcRect l="35656" r="15877"/>
          <a:stretch/>
        </p:blipFill>
        <p:spPr>
          <a:xfrm flipH="1">
            <a:off x="0" y="-1500"/>
            <a:ext cx="3739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3"/>
          <p:cNvSpPr/>
          <p:nvPr/>
        </p:nvSpPr>
        <p:spPr>
          <a:xfrm>
            <a:off x="3364300" y="1559225"/>
            <a:ext cx="5786400" cy="10125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53"/>
          <p:cNvSpPr txBox="1">
            <a:spLocks noGrp="1"/>
          </p:cNvSpPr>
          <p:nvPr>
            <p:ph type="title"/>
          </p:nvPr>
        </p:nvSpPr>
        <p:spPr>
          <a:xfrm>
            <a:off x="-431181" y="493153"/>
            <a:ext cx="9106830" cy="31446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lt1"/>
                </a:solidFill>
              </a:rPr>
              <a:t>Customer </a:t>
            </a:r>
            <a:r>
              <a:rPr lang="en" sz="4000" dirty="0"/>
              <a:t> </a:t>
            </a:r>
            <a:r>
              <a:rPr lang="en" sz="4000" dirty="0">
                <a:solidFill>
                  <a:schemeClr val="bg1"/>
                </a:solidFill>
              </a:rPr>
              <a:t>Analysis</a:t>
            </a:r>
            <a:endParaRPr sz="4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6451B8-418E-8B10-B706-AB146839762E}"/>
              </a:ext>
            </a:extLst>
          </p:cNvPr>
          <p:cNvSpPr txBox="1"/>
          <p:nvPr/>
        </p:nvSpPr>
        <p:spPr>
          <a:xfrm>
            <a:off x="4482790" y="3456878"/>
            <a:ext cx="37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b="1" dirty="0"/>
              <a:t>The customer is 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046C46AF-D850-B1AB-3A0A-853818517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6">
            <a:extLst>
              <a:ext uri="{FF2B5EF4-FFF2-40B4-BE49-F238E27FC236}">
                <a16:creationId xmlns:a16="http://schemas.microsoft.com/office/drawing/2014/main" id="{AAC04299-9BEA-46FB-3998-7B96D275C578}"/>
              </a:ext>
            </a:extLst>
          </p:cNvPr>
          <p:cNvSpPr/>
          <p:nvPr/>
        </p:nvSpPr>
        <p:spPr>
          <a:xfrm>
            <a:off x="0" y="533663"/>
            <a:ext cx="9144000" cy="461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56">
            <a:extLst>
              <a:ext uri="{FF2B5EF4-FFF2-40B4-BE49-F238E27FC236}">
                <a16:creationId xmlns:a16="http://schemas.microsoft.com/office/drawing/2014/main" id="{18D91F75-7C22-CA75-0F89-BF9417384E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8930" y="546870"/>
            <a:ext cx="1407831" cy="4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4,2M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40" name="Google Shape;440;p56">
            <a:extLst>
              <a:ext uri="{FF2B5EF4-FFF2-40B4-BE49-F238E27FC236}">
                <a16:creationId xmlns:a16="http://schemas.microsoft.com/office/drawing/2014/main" id="{6ED747A0-E70B-311C-CF19-BD458BE8185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38833" y="545274"/>
            <a:ext cx="1906800" cy="4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4,7M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45" name="Google Shape;445;p56">
            <a:extLst>
              <a:ext uri="{FF2B5EF4-FFF2-40B4-BE49-F238E27FC236}">
                <a16:creationId xmlns:a16="http://schemas.microsoft.com/office/drawing/2014/main" id="{382389B1-28B4-0863-DF85-0DFCF75D01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981" y="170928"/>
            <a:ext cx="1906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18-25</a:t>
            </a:r>
            <a:endParaRPr sz="2000" b="1" dirty="0"/>
          </a:p>
        </p:txBody>
      </p:sp>
      <p:sp>
        <p:nvSpPr>
          <p:cNvPr id="446" name="Google Shape;446;p56">
            <a:extLst>
              <a:ext uri="{FF2B5EF4-FFF2-40B4-BE49-F238E27FC236}">
                <a16:creationId xmlns:a16="http://schemas.microsoft.com/office/drawing/2014/main" id="{0693D58E-92A8-0183-9195-365B0EC4D47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847842" y="198202"/>
            <a:ext cx="1906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46-60</a:t>
            </a:r>
            <a:endParaRPr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5E5C2-B9FD-80F3-A0F9-862A0C8AC487}"/>
              </a:ext>
            </a:extLst>
          </p:cNvPr>
          <p:cNvSpPr txBox="1"/>
          <p:nvPr/>
        </p:nvSpPr>
        <p:spPr>
          <a:xfrm>
            <a:off x="551985" y="1482278"/>
            <a:ext cx="86757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36–45 age group</a:t>
            </a:r>
            <a:r>
              <a:rPr lang="en-US" dirty="0"/>
              <a:t> generated the highest sales at </a:t>
            </a:r>
            <a:r>
              <a:rPr lang="en-US" b="1" dirty="0"/>
              <a:t>R4.7M</a:t>
            </a:r>
            <a:r>
              <a:rPr lang="en-US" dirty="0"/>
              <a:t> ,this group is more stable in terms of finances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F2555-E13B-29F4-4BE1-92E3E0D5DFBE}"/>
              </a:ext>
            </a:extLst>
          </p:cNvPr>
          <p:cNvSpPr txBox="1"/>
          <p:nvPr/>
        </p:nvSpPr>
        <p:spPr>
          <a:xfrm>
            <a:off x="551984" y="1790055"/>
            <a:ext cx="752000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This indicates that they are the target customer for clothes ,beauty electronics as well as appliances.</a:t>
            </a:r>
          </a:p>
          <a:p>
            <a:endParaRPr lang="en-ZA" dirty="0"/>
          </a:p>
          <a:p>
            <a:r>
              <a:rPr lang="en-ZA" dirty="0"/>
              <a:t>18–25 although not financially stable they follow trends which is the driving force for sales in this age group.</a:t>
            </a:r>
          </a:p>
          <a:p>
            <a:endParaRPr lang="en-ZA" dirty="0"/>
          </a:p>
          <a:p>
            <a:r>
              <a:rPr lang="en-US" dirty="0"/>
              <a:t>46-60 contributed </a:t>
            </a:r>
            <a:r>
              <a:rPr lang="en-US" b="1" dirty="0"/>
              <a:t>R3.7M</a:t>
            </a:r>
            <a:r>
              <a:rPr lang="en-US" dirty="0"/>
              <a:t>, the lowest of all groups, this group is less interest in fast-fashion or beauty trends</a:t>
            </a:r>
            <a:endParaRPr lang="en-ZA" dirty="0"/>
          </a:p>
          <a:p>
            <a:endParaRPr lang="en-US" dirty="0"/>
          </a:p>
          <a:p>
            <a:r>
              <a:rPr lang="en-US" b="1" dirty="0"/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Create Trend-based marketing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Promote senior-friendly bundles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 loyalty rewards as the returning customers makes up 87% of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 in marketing for provinces that are performing poorly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Google Shape;445;p56">
            <a:extLst>
              <a:ext uri="{FF2B5EF4-FFF2-40B4-BE49-F238E27FC236}">
                <a16:creationId xmlns:a16="http://schemas.microsoft.com/office/drawing/2014/main" id="{61C948CF-EA51-31E7-5AB4-873A0BC43297}"/>
              </a:ext>
            </a:extLst>
          </p:cNvPr>
          <p:cNvSpPr txBox="1">
            <a:spLocks/>
          </p:cNvSpPr>
          <p:nvPr/>
        </p:nvSpPr>
        <p:spPr>
          <a:xfrm>
            <a:off x="1620703" y="165426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" sz="2000" b="1" dirty="0"/>
              <a:t>26-35</a:t>
            </a:r>
          </a:p>
        </p:txBody>
      </p:sp>
      <p:sp>
        <p:nvSpPr>
          <p:cNvPr id="3" name="Google Shape;445;p56">
            <a:extLst>
              <a:ext uri="{FF2B5EF4-FFF2-40B4-BE49-F238E27FC236}">
                <a16:creationId xmlns:a16="http://schemas.microsoft.com/office/drawing/2014/main" id="{E4E1DE66-026C-2E2A-9A6A-A96CA1FEEFED}"/>
              </a:ext>
            </a:extLst>
          </p:cNvPr>
          <p:cNvSpPr txBox="1">
            <a:spLocks/>
          </p:cNvSpPr>
          <p:nvPr/>
        </p:nvSpPr>
        <p:spPr>
          <a:xfrm>
            <a:off x="3527503" y="165426"/>
            <a:ext cx="1906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indent="0"/>
            <a:r>
              <a:rPr lang="en" sz="2000" b="1" dirty="0"/>
              <a:t>36-45</a:t>
            </a:r>
          </a:p>
        </p:txBody>
      </p:sp>
      <p:sp>
        <p:nvSpPr>
          <p:cNvPr id="4" name="Google Shape;439;p56">
            <a:extLst>
              <a:ext uri="{FF2B5EF4-FFF2-40B4-BE49-F238E27FC236}">
                <a16:creationId xmlns:a16="http://schemas.microsoft.com/office/drawing/2014/main" id="{1F54294F-70A7-72CB-CB32-21FA87716ED1}"/>
              </a:ext>
            </a:extLst>
          </p:cNvPr>
          <p:cNvSpPr txBox="1">
            <a:spLocks/>
          </p:cNvSpPr>
          <p:nvPr/>
        </p:nvSpPr>
        <p:spPr>
          <a:xfrm>
            <a:off x="1888328" y="518860"/>
            <a:ext cx="1407831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 Semibold"/>
              <a:buNone/>
              <a:defRPr sz="3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r>
              <a:rPr lang="en-ZA" dirty="0">
                <a:solidFill>
                  <a:schemeClr val="lt1"/>
                </a:solidFill>
              </a:rPr>
              <a:t>4,3M</a:t>
            </a:r>
          </a:p>
        </p:txBody>
      </p:sp>
      <p:sp>
        <p:nvSpPr>
          <p:cNvPr id="5" name="Google Shape;439;p56">
            <a:extLst>
              <a:ext uri="{FF2B5EF4-FFF2-40B4-BE49-F238E27FC236}">
                <a16:creationId xmlns:a16="http://schemas.microsoft.com/office/drawing/2014/main" id="{924839F9-D058-D128-6A78-773F4E810129}"/>
              </a:ext>
            </a:extLst>
          </p:cNvPr>
          <p:cNvSpPr txBox="1">
            <a:spLocks/>
          </p:cNvSpPr>
          <p:nvPr/>
        </p:nvSpPr>
        <p:spPr>
          <a:xfrm>
            <a:off x="6138955" y="567298"/>
            <a:ext cx="1407831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 Semibold"/>
              <a:buNone/>
              <a:defRPr sz="3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Proxima Nova Semibold"/>
              <a:buNone/>
              <a:defRPr sz="12000" b="0" i="0" u="none" strike="noStrike" cap="non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r>
              <a:rPr lang="en-ZA" dirty="0">
                <a:solidFill>
                  <a:schemeClr val="lt1"/>
                </a:solidFill>
              </a:rPr>
              <a:t>3,7M</a:t>
            </a:r>
          </a:p>
        </p:txBody>
      </p:sp>
    </p:spTree>
    <p:extLst>
      <p:ext uri="{BB962C8B-B14F-4D97-AF65-F5344CB8AC3E}">
        <p14:creationId xmlns:p14="http://schemas.microsoft.com/office/powerpoint/2010/main" val="1273854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 performing Provinces</a:t>
            </a:r>
            <a:endParaRPr dirty="0"/>
          </a:p>
        </p:txBody>
      </p:sp>
      <p:sp>
        <p:nvSpPr>
          <p:cNvPr id="507" name="Google Shape;507;p57"/>
          <p:cNvSpPr txBox="1">
            <a:spLocks noGrp="1"/>
          </p:cNvSpPr>
          <p:nvPr>
            <p:ph type="title" idx="4294967295"/>
          </p:nvPr>
        </p:nvSpPr>
        <p:spPr>
          <a:xfrm>
            <a:off x="0" y="1387475"/>
            <a:ext cx="1853619" cy="27168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Eastern Cape</a:t>
            </a:r>
            <a:endParaRPr sz="2000" dirty="0"/>
          </a:p>
        </p:txBody>
      </p:sp>
      <p:sp>
        <p:nvSpPr>
          <p:cNvPr id="509" name="Google Shape;509;p57"/>
          <p:cNvSpPr txBox="1">
            <a:spLocks noGrp="1"/>
          </p:cNvSpPr>
          <p:nvPr>
            <p:ph type="title" idx="4294967295"/>
          </p:nvPr>
        </p:nvSpPr>
        <p:spPr>
          <a:xfrm>
            <a:off x="0" y="2422525"/>
            <a:ext cx="1853619" cy="24996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Kwazulu Natal</a:t>
            </a:r>
            <a:endParaRPr sz="2000" dirty="0"/>
          </a:p>
        </p:txBody>
      </p:sp>
      <p:sp>
        <p:nvSpPr>
          <p:cNvPr id="511" name="Google Shape;511;p57"/>
          <p:cNvSpPr txBox="1">
            <a:spLocks noGrp="1"/>
          </p:cNvSpPr>
          <p:nvPr>
            <p:ph type="title" idx="4294967295"/>
          </p:nvPr>
        </p:nvSpPr>
        <p:spPr>
          <a:xfrm>
            <a:off x="199776" y="3311359"/>
            <a:ext cx="1425575" cy="32385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Free State</a:t>
            </a:r>
            <a:endParaRPr sz="2000" dirty="0"/>
          </a:p>
        </p:txBody>
      </p:sp>
      <p:sp>
        <p:nvSpPr>
          <p:cNvPr id="455" name="Google Shape;455;p57"/>
          <p:cNvSpPr/>
          <p:nvPr/>
        </p:nvSpPr>
        <p:spPr>
          <a:xfrm>
            <a:off x="5343255" y="2531233"/>
            <a:ext cx="951228" cy="212320"/>
          </a:xfrm>
          <a:custGeom>
            <a:avLst/>
            <a:gdLst/>
            <a:ahLst/>
            <a:cxnLst/>
            <a:rect l="l" t="t" r="r" b="b"/>
            <a:pathLst>
              <a:path w="59156" h="13204" extrusionOk="0">
                <a:moveTo>
                  <a:pt x="1" y="0"/>
                </a:moveTo>
                <a:lnTo>
                  <a:pt x="1" y="0"/>
                </a:lnTo>
                <a:close/>
                <a:moveTo>
                  <a:pt x="59155" y="13203"/>
                </a:move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57"/>
          <p:cNvSpPr/>
          <p:nvPr/>
        </p:nvSpPr>
        <p:spPr>
          <a:xfrm>
            <a:off x="4496336" y="1083565"/>
            <a:ext cx="3214971" cy="2427027"/>
          </a:xfrm>
          <a:custGeom>
            <a:avLst/>
            <a:gdLst/>
            <a:ahLst/>
            <a:cxnLst/>
            <a:rect l="l" t="t" r="r" b="b"/>
            <a:pathLst>
              <a:path w="164746" h="124369" extrusionOk="0">
                <a:moveTo>
                  <a:pt x="49520" y="11070"/>
                </a:moveTo>
                <a:cubicBezTo>
                  <a:pt x="49737" y="11070"/>
                  <a:pt x="49861" y="11136"/>
                  <a:pt x="49875" y="11358"/>
                </a:cubicBezTo>
                <a:cubicBezTo>
                  <a:pt x="49875" y="11575"/>
                  <a:pt x="49818" y="11698"/>
                  <a:pt x="49684" y="11698"/>
                </a:cubicBezTo>
                <a:cubicBezTo>
                  <a:pt x="49636" y="11698"/>
                  <a:pt x="49580" y="11683"/>
                  <a:pt x="49512" y="11651"/>
                </a:cubicBezTo>
                <a:cubicBezTo>
                  <a:pt x="49305" y="11565"/>
                  <a:pt x="49115" y="11444"/>
                  <a:pt x="48925" y="11323"/>
                </a:cubicBezTo>
                <a:lnTo>
                  <a:pt x="49339" y="11081"/>
                </a:lnTo>
                <a:cubicBezTo>
                  <a:pt x="49405" y="11074"/>
                  <a:pt x="49465" y="11070"/>
                  <a:pt x="49520" y="11070"/>
                </a:cubicBezTo>
                <a:close/>
                <a:moveTo>
                  <a:pt x="46983" y="11081"/>
                </a:moveTo>
                <a:cubicBezTo>
                  <a:pt x="47014" y="11081"/>
                  <a:pt x="47051" y="11087"/>
                  <a:pt x="47093" y="11098"/>
                </a:cubicBezTo>
                <a:cubicBezTo>
                  <a:pt x="47369" y="11185"/>
                  <a:pt x="47870" y="11168"/>
                  <a:pt x="47767" y="11686"/>
                </a:cubicBezTo>
                <a:cubicBezTo>
                  <a:pt x="47732" y="11893"/>
                  <a:pt x="47888" y="12274"/>
                  <a:pt x="47490" y="12343"/>
                </a:cubicBezTo>
                <a:cubicBezTo>
                  <a:pt x="47110" y="12222"/>
                  <a:pt x="46834" y="11893"/>
                  <a:pt x="46799" y="11496"/>
                </a:cubicBezTo>
                <a:cubicBezTo>
                  <a:pt x="46784" y="11302"/>
                  <a:pt x="46782" y="11081"/>
                  <a:pt x="46983" y="11081"/>
                </a:cubicBezTo>
                <a:close/>
                <a:moveTo>
                  <a:pt x="38158" y="11530"/>
                </a:moveTo>
                <a:cubicBezTo>
                  <a:pt x="38279" y="11530"/>
                  <a:pt x="38417" y="11703"/>
                  <a:pt x="38642" y="11876"/>
                </a:cubicBezTo>
                <a:cubicBezTo>
                  <a:pt x="38366" y="12118"/>
                  <a:pt x="38089" y="12360"/>
                  <a:pt x="37778" y="12585"/>
                </a:cubicBezTo>
                <a:cubicBezTo>
                  <a:pt x="35549" y="13967"/>
                  <a:pt x="35514" y="15903"/>
                  <a:pt x="37692" y="17268"/>
                </a:cubicBezTo>
                <a:cubicBezTo>
                  <a:pt x="38003" y="17458"/>
                  <a:pt x="38227" y="17631"/>
                  <a:pt x="38158" y="18080"/>
                </a:cubicBezTo>
                <a:cubicBezTo>
                  <a:pt x="38106" y="18529"/>
                  <a:pt x="37951" y="18599"/>
                  <a:pt x="37553" y="18737"/>
                </a:cubicBezTo>
                <a:cubicBezTo>
                  <a:pt x="36568" y="19117"/>
                  <a:pt x="36309" y="19981"/>
                  <a:pt x="36378" y="20949"/>
                </a:cubicBezTo>
                <a:cubicBezTo>
                  <a:pt x="36427" y="21679"/>
                  <a:pt x="36279" y="22143"/>
                  <a:pt x="35819" y="22143"/>
                </a:cubicBezTo>
                <a:cubicBezTo>
                  <a:pt x="35625" y="22143"/>
                  <a:pt x="35377" y="22061"/>
                  <a:pt x="35065" y="21882"/>
                </a:cubicBezTo>
                <a:cubicBezTo>
                  <a:pt x="34913" y="21798"/>
                  <a:pt x="34745" y="21754"/>
                  <a:pt x="34578" y="21754"/>
                </a:cubicBezTo>
                <a:cubicBezTo>
                  <a:pt x="34403" y="21754"/>
                  <a:pt x="34230" y="21802"/>
                  <a:pt x="34080" y="21899"/>
                </a:cubicBezTo>
                <a:cubicBezTo>
                  <a:pt x="33134" y="22372"/>
                  <a:pt x="32094" y="22613"/>
                  <a:pt x="31041" y="22613"/>
                </a:cubicBezTo>
                <a:cubicBezTo>
                  <a:pt x="30747" y="22613"/>
                  <a:pt x="30451" y="22594"/>
                  <a:pt x="30157" y="22556"/>
                </a:cubicBezTo>
                <a:cubicBezTo>
                  <a:pt x="29915" y="22521"/>
                  <a:pt x="29759" y="22608"/>
                  <a:pt x="29829" y="22262"/>
                </a:cubicBezTo>
                <a:lnTo>
                  <a:pt x="29829" y="22262"/>
                </a:lnTo>
                <a:lnTo>
                  <a:pt x="29829" y="22279"/>
                </a:lnTo>
                <a:cubicBezTo>
                  <a:pt x="29898" y="21986"/>
                  <a:pt x="29984" y="21882"/>
                  <a:pt x="30364" y="21830"/>
                </a:cubicBezTo>
                <a:cubicBezTo>
                  <a:pt x="31505" y="21675"/>
                  <a:pt x="32836" y="21467"/>
                  <a:pt x="33354" y="20361"/>
                </a:cubicBezTo>
                <a:cubicBezTo>
                  <a:pt x="33821" y="19342"/>
                  <a:pt x="33872" y="18184"/>
                  <a:pt x="34927" y="17458"/>
                </a:cubicBezTo>
                <a:cubicBezTo>
                  <a:pt x="35238" y="17216"/>
                  <a:pt x="34978" y="16836"/>
                  <a:pt x="34667" y="16594"/>
                </a:cubicBezTo>
                <a:cubicBezTo>
                  <a:pt x="33216" y="15436"/>
                  <a:pt x="33907" y="14572"/>
                  <a:pt x="35099" y="13846"/>
                </a:cubicBezTo>
                <a:cubicBezTo>
                  <a:pt x="35860" y="13380"/>
                  <a:pt x="36724" y="13086"/>
                  <a:pt x="37018" y="12066"/>
                </a:cubicBezTo>
                <a:cubicBezTo>
                  <a:pt x="37156" y="11582"/>
                  <a:pt x="37709" y="11548"/>
                  <a:pt x="38158" y="11530"/>
                </a:cubicBezTo>
                <a:close/>
                <a:moveTo>
                  <a:pt x="46802" y="32066"/>
                </a:moveTo>
                <a:cubicBezTo>
                  <a:pt x="47245" y="32066"/>
                  <a:pt x="47720" y="32469"/>
                  <a:pt x="47888" y="33080"/>
                </a:cubicBezTo>
                <a:cubicBezTo>
                  <a:pt x="48059" y="33754"/>
                  <a:pt x="48393" y="34225"/>
                  <a:pt x="48918" y="34225"/>
                </a:cubicBezTo>
                <a:cubicBezTo>
                  <a:pt x="49080" y="34225"/>
                  <a:pt x="49261" y="34181"/>
                  <a:pt x="49460" y="34083"/>
                </a:cubicBezTo>
                <a:cubicBezTo>
                  <a:pt x="50103" y="33764"/>
                  <a:pt x="50701" y="33627"/>
                  <a:pt x="51269" y="33627"/>
                </a:cubicBezTo>
                <a:cubicBezTo>
                  <a:pt x="52489" y="33627"/>
                  <a:pt x="53566" y="34260"/>
                  <a:pt x="54628" y="35085"/>
                </a:cubicBezTo>
                <a:cubicBezTo>
                  <a:pt x="54818" y="35223"/>
                  <a:pt x="55008" y="35396"/>
                  <a:pt x="55163" y="35586"/>
                </a:cubicBezTo>
                <a:cubicBezTo>
                  <a:pt x="55543" y="36053"/>
                  <a:pt x="56684" y="36070"/>
                  <a:pt x="56321" y="36917"/>
                </a:cubicBezTo>
                <a:lnTo>
                  <a:pt x="56321" y="36934"/>
                </a:lnTo>
                <a:cubicBezTo>
                  <a:pt x="56149" y="37350"/>
                  <a:pt x="55751" y="37415"/>
                  <a:pt x="55318" y="37415"/>
                </a:cubicBezTo>
                <a:cubicBezTo>
                  <a:pt x="55122" y="37415"/>
                  <a:pt x="54919" y="37401"/>
                  <a:pt x="54727" y="37401"/>
                </a:cubicBezTo>
                <a:cubicBezTo>
                  <a:pt x="54620" y="37401"/>
                  <a:pt x="54517" y="37405"/>
                  <a:pt x="54420" y="37418"/>
                </a:cubicBezTo>
                <a:cubicBezTo>
                  <a:pt x="54278" y="37432"/>
                  <a:pt x="54136" y="37440"/>
                  <a:pt x="53995" y="37440"/>
                </a:cubicBezTo>
                <a:cubicBezTo>
                  <a:pt x="53292" y="37440"/>
                  <a:pt x="52602" y="37262"/>
                  <a:pt x="51983" y="36917"/>
                </a:cubicBezTo>
                <a:cubicBezTo>
                  <a:pt x="51332" y="36539"/>
                  <a:pt x="50680" y="36418"/>
                  <a:pt x="50028" y="36418"/>
                </a:cubicBezTo>
                <a:cubicBezTo>
                  <a:pt x="48867" y="36418"/>
                  <a:pt x="47706" y="36802"/>
                  <a:pt x="46545" y="36802"/>
                </a:cubicBezTo>
                <a:cubicBezTo>
                  <a:pt x="46302" y="36802"/>
                  <a:pt x="46058" y="36785"/>
                  <a:pt x="45814" y="36744"/>
                </a:cubicBezTo>
                <a:cubicBezTo>
                  <a:pt x="44881" y="36588"/>
                  <a:pt x="44552" y="36105"/>
                  <a:pt x="44673" y="35241"/>
                </a:cubicBezTo>
                <a:cubicBezTo>
                  <a:pt x="44846" y="34083"/>
                  <a:pt x="45537" y="33115"/>
                  <a:pt x="46263" y="32320"/>
                </a:cubicBezTo>
                <a:cubicBezTo>
                  <a:pt x="46417" y="32145"/>
                  <a:pt x="46607" y="32066"/>
                  <a:pt x="46802" y="32066"/>
                </a:cubicBezTo>
                <a:close/>
                <a:moveTo>
                  <a:pt x="64554" y="31370"/>
                </a:moveTo>
                <a:cubicBezTo>
                  <a:pt x="64860" y="31370"/>
                  <a:pt x="65185" y="31437"/>
                  <a:pt x="65532" y="31594"/>
                </a:cubicBezTo>
                <a:cubicBezTo>
                  <a:pt x="65878" y="31767"/>
                  <a:pt x="65930" y="32251"/>
                  <a:pt x="65636" y="32493"/>
                </a:cubicBezTo>
                <a:cubicBezTo>
                  <a:pt x="64063" y="34065"/>
                  <a:pt x="64184" y="35085"/>
                  <a:pt x="65895" y="36588"/>
                </a:cubicBezTo>
                <a:cubicBezTo>
                  <a:pt x="67243" y="37815"/>
                  <a:pt x="67762" y="39544"/>
                  <a:pt x="68211" y="41237"/>
                </a:cubicBezTo>
                <a:cubicBezTo>
                  <a:pt x="68364" y="41802"/>
                  <a:pt x="68057" y="41990"/>
                  <a:pt x="67435" y="41990"/>
                </a:cubicBezTo>
                <a:cubicBezTo>
                  <a:pt x="67353" y="41990"/>
                  <a:pt x="67266" y="41986"/>
                  <a:pt x="67174" y="41980"/>
                </a:cubicBezTo>
                <a:cubicBezTo>
                  <a:pt x="66517" y="41064"/>
                  <a:pt x="64271" y="41825"/>
                  <a:pt x="64547" y="39146"/>
                </a:cubicBezTo>
                <a:lnTo>
                  <a:pt x="64547" y="39146"/>
                </a:lnTo>
                <a:lnTo>
                  <a:pt x="64547" y="39181"/>
                </a:lnTo>
                <a:cubicBezTo>
                  <a:pt x="64685" y="37885"/>
                  <a:pt x="63113" y="36295"/>
                  <a:pt x="62076" y="35050"/>
                </a:cubicBezTo>
                <a:cubicBezTo>
                  <a:pt x="61281" y="34100"/>
                  <a:pt x="61385" y="33288"/>
                  <a:pt x="62076" y="32683"/>
                </a:cubicBezTo>
                <a:cubicBezTo>
                  <a:pt x="62786" y="32052"/>
                  <a:pt x="63577" y="31370"/>
                  <a:pt x="64554" y="31370"/>
                </a:cubicBezTo>
                <a:close/>
                <a:moveTo>
                  <a:pt x="30705" y="33465"/>
                </a:moveTo>
                <a:cubicBezTo>
                  <a:pt x="30874" y="33465"/>
                  <a:pt x="31043" y="33637"/>
                  <a:pt x="31090" y="33720"/>
                </a:cubicBezTo>
                <a:cubicBezTo>
                  <a:pt x="31920" y="35120"/>
                  <a:pt x="33579" y="35258"/>
                  <a:pt x="34719" y="36226"/>
                </a:cubicBezTo>
                <a:cubicBezTo>
                  <a:pt x="36205" y="37487"/>
                  <a:pt x="36275" y="39354"/>
                  <a:pt x="37191" y="40822"/>
                </a:cubicBezTo>
                <a:cubicBezTo>
                  <a:pt x="37484" y="41289"/>
                  <a:pt x="37571" y="41980"/>
                  <a:pt x="37968" y="42274"/>
                </a:cubicBezTo>
                <a:cubicBezTo>
                  <a:pt x="38403" y="42594"/>
                  <a:pt x="39075" y="43217"/>
                  <a:pt x="39556" y="43217"/>
                </a:cubicBezTo>
                <a:cubicBezTo>
                  <a:pt x="39725" y="43217"/>
                  <a:pt x="39870" y="43141"/>
                  <a:pt x="39973" y="42948"/>
                </a:cubicBezTo>
                <a:cubicBezTo>
                  <a:pt x="40336" y="42274"/>
                  <a:pt x="41234" y="41289"/>
                  <a:pt x="40543" y="40183"/>
                </a:cubicBezTo>
                <a:cubicBezTo>
                  <a:pt x="40301" y="39803"/>
                  <a:pt x="39610" y="39215"/>
                  <a:pt x="40284" y="38904"/>
                </a:cubicBezTo>
                <a:cubicBezTo>
                  <a:pt x="40592" y="38765"/>
                  <a:pt x="41024" y="38302"/>
                  <a:pt x="41439" y="38302"/>
                </a:cubicBezTo>
                <a:cubicBezTo>
                  <a:pt x="41746" y="38302"/>
                  <a:pt x="42043" y="38557"/>
                  <a:pt x="42271" y="39388"/>
                </a:cubicBezTo>
                <a:cubicBezTo>
                  <a:pt x="42782" y="41200"/>
                  <a:pt x="43748" y="43327"/>
                  <a:pt x="46038" y="43327"/>
                </a:cubicBezTo>
                <a:cubicBezTo>
                  <a:pt x="46150" y="43327"/>
                  <a:pt x="46266" y="43321"/>
                  <a:pt x="46384" y="43311"/>
                </a:cubicBezTo>
                <a:cubicBezTo>
                  <a:pt x="46463" y="43304"/>
                  <a:pt x="46542" y="43300"/>
                  <a:pt x="46620" y="43300"/>
                </a:cubicBezTo>
                <a:cubicBezTo>
                  <a:pt x="47585" y="43300"/>
                  <a:pt x="48526" y="43802"/>
                  <a:pt x="49487" y="43802"/>
                </a:cubicBezTo>
                <a:cubicBezTo>
                  <a:pt x="49955" y="43802"/>
                  <a:pt x="50429" y="43683"/>
                  <a:pt x="50912" y="43328"/>
                </a:cubicBezTo>
                <a:cubicBezTo>
                  <a:pt x="51106" y="43191"/>
                  <a:pt x="51242" y="43135"/>
                  <a:pt x="51336" y="43135"/>
                </a:cubicBezTo>
                <a:cubicBezTo>
                  <a:pt x="51643" y="43135"/>
                  <a:pt x="51508" y="43736"/>
                  <a:pt x="51534" y="44054"/>
                </a:cubicBezTo>
                <a:cubicBezTo>
                  <a:pt x="51845" y="45488"/>
                  <a:pt x="50843" y="46629"/>
                  <a:pt x="50618" y="47942"/>
                </a:cubicBezTo>
                <a:cubicBezTo>
                  <a:pt x="50585" y="48144"/>
                  <a:pt x="50240" y="48444"/>
                  <a:pt x="50046" y="48444"/>
                </a:cubicBezTo>
                <a:cubicBezTo>
                  <a:pt x="50041" y="48444"/>
                  <a:pt x="50036" y="48444"/>
                  <a:pt x="50031" y="48444"/>
                </a:cubicBezTo>
                <a:cubicBezTo>
                  <a:pt x="49523" y="48389"/>
                  <a:pt x="49010" y="48372"/>
                  <a:pt x="48494" y="48372"/>
                </a:cubicBezTo>
                <a:cubicBezTo>
                  <a:pt x="47534" y="48372"/>
                  <a:pt x="46564" y="48433"/>
                  <a:pt x="45600" y="48433"/>
                </a:cubicBezTo>
                <a:cubicBezTo>
                  <a:pt x="43779" y="48433"/>
                  <a:pt x="41984" y="48215"/>
                  <a:pt x="40336" y="46957"/>
                </a:cubicBezTo>
                <a:cubicBezTo>
                  <a:pt x="40033" y="46726"/>
                  <a:pt x="39675" y="46623"/>
                  <a:pt x="39308" y="46623"/>
                </a:cubicBezTo>
                <a:cubicBezTo>
                  <a:pt x="38250" y="46623"/>
                  <a:pt x="37116" y="47478"/>
                  <a:pt x="37000" y="48582"/>
                </a:cubicBezTo>
                <a:cubicBezTo>
                  <a:pt x="36972" y="48947"/>
                  <a:pt x="36796" y="49426"/>
                  <a:pt x="36527" y="49426"/>
                </a:cubicBezTo>
                <a:cubicBezTo>
                  <a:pt x="36465" y="49426"/>
                  <a:pt x="36398" y="49400"/>
                  <a:pt x="36326" y="49342"/>
                </a:cubicBezTo>
                <a:cubicBezTo>
                  <a:pt x="35376" y="48582"/>
                  <a:pt x="34045" y="48772"/>
                  <a:pt x="33147" y="47752"/>
                </a:cubicBezTo>
                <a:cubicBezTo>
                  <a:pt x="32334" y="46819"/>
                  <a:pt x="30900" y="46785"/>
                  <a:pt x="29673" y="46525"/>
                </a:cubicBezTo>
                <a:cubicBezTo>
                  <a:pt x="28913" y="46370"/>
                  <a:pt x="27807" y="46422"/>
                  <a:pt x="28567" y="44953"/>
                </a:cubicBezTo>
                <a:cubicBezTo>
                  <a:pt x="28982" y="44158"/>
                  <a:pt x="29034" y="43000"/>
                  <a:pt x="28515" y="42257"/>
                </a:cubicBezTo>
                <a:cubicBezTo>
                  <a:pt x="28230" y="41853"/>
                  <a:pt x="27848" y="41722"/>
                  <a:pt x="27412" y="41722"/>
                </a:cubicBezTo>
                <a:cubicBezTo>
                  <a:pt x="27028" y="41722"/>
                  <a:pt x="26602" y="41823"/>
                  <a:pt x="26165" y="41928"/>
                </a:cubicBezTo>
                <a:cubicBezTo>
                  <a:pt x="25497" y="42091"/>
                  <a:pt x="24818" y="42128"/>
                  <a:pt x="24133" y="42128"/>
                </a:cubicBezTo>
                <a:cubicBezTo>
                  <a:pt x="23569" y="42128"/>
                  <a:pt x="23001" y="42103"/>
                  <a:pt x="22432" y="42103"/>
                </a:cubicBezTo>
                <a:cubicBezTo>
                  <a:pt x="21707" y="42103"/>
                  <a:pt x="20980" y="42143"/>
                  <a:pt x="20255" y="42326"/>
                </a:cubicBezTo>
                <a:cubicBezTo>
                  <a:pt x="19287" y="42585"/>
                  <a:pt x="18319" y="42862"/>
                  <a:pt x="17559" y="43380"/>
                </a:cubicBezTo>
                <a:cubicBezTo>
                  <a:pt x="17082" y="43705"/>
                  <a:pt x="16613" y="43798"/>
                  <a:pt x="16149" y="43798"/>
                </a:cubicBezTo>
                <a:cubicBezTo>
                  <a:pt x="15538" y="43798"/>
                  <a:pt x="14935" y="43638"/>
                  <a:pt x="14326" y="43638"/>
                </a:cubicBezTo>
                <a:cubicBezTo>
                  <a:pt x="14292" y="43638"/>
                  <a:pt x="14258" y="43638"/>
                  <a:pt x="14223" y="43639"/>
                </a:cubicBezTo>
                <a:cubicBezTo>
                  <a:pt x="14120" y="43622"/>
                  <a:pt x="14016" y="43570"/>
                  <a:pt x="13930" y="43466"/>
                </a:cubicBezTo>
                <a:cubicBezTo>
                  <a:pt x="14043" y="43169"/>
                  <a:pt x="14308" y="43115"/>
                  <a:pt x="14562" y="43115"/>
                </a:cubicBezTo>
                <a:cubicBezTo>
                  <a:pt x="14617" y="43115"/>
                  <a:pt x="14672" y="43118"/>
                  <a:pt x="14725" y="43121"/>
                </a:cubicBezTo>
                <a:cubicBezTo>
                  <a:pt x="14838" y="43129"/>
                  <a:pt x="14949" y="43134"/>
                  <a:pt x="15058" y="43134"/>
                </a:cubicBezTo>
                <a:cubicBezTo>
                  <a:pt x="16723" y="43134"/>
                  <a:pt x="17967" y="42165"/>
                  <a:pt x="18388" y="40771"/>
                </a:cubicBezTo>
                <a:cubicBezTo>
                  <a:pt x="18976" y="38921"/>
                  <a:pt x="20808" y="38282"/>
                  <a:pt x="21482" y="37090"/>
                </a:cubicBezTo>
                <a:cubicBezTo>
                  <a:pt x="22174" y="35865"/>
                  <a:pt x="22770" y="35535"/>
                  <a:pt x="23579" y="35535"/>
                </a:cubicBezTo>
                <a:cubicBezTo>
                  <a:pt x="23899" y="35535"/>
                  <a:pt x="24254" y="35587"/>
                  <a:pt x="24661" y="35655"/>
                </a:cubicBezTo>
                <a:cubicBezTo>
                  <a:pt x="24682" y="35658"/>
                  <a:pt x="24703" y="35660"/>
                  <a:pt x="24725" y="35660"/>
                </a:cubicBezTo>
                <a:cubicBezTo>
                  <a:pt x="25065" y="35660"/>
                  <a:pt x="25513" y="35293"/>
                  <a:pt x="25854" y="35033"/>
                </a:cubicBezTo>
                <a:cubicBezTo>
                  <a:pt x="26267" y="34730"/>
                  <a:pt x="26584" y="34570"/>
                  <a:pt x="26849" y="34570"/>
                </a:cubicBezTo>
                <a:cubicBezTo>
                  <a:pt x="27249" y="34570"/>
                  <a:pt x="27529" y="34935"/>
                  <a:pt x="27841" y="35724"/>
                </a:cubicBezTo>
                <a:cubicBezTo>
                  <a:pt x="28325" y="36969"/>
                  <a:pt x="29742" y="37574"/>
                  <a:pt x="30952" y="38161"/>
                </a:cubicBezTo>
                <a:cubicBezTo>
                  <a:pt x="31712" y="38524"/>
                  <a:pt x="32732" y="38852"/>
                  <a:pt x="32680" y="39716"/>
                </a:cubicBezTo>
                <a:cubicBezTo>
                  <a:pt x="32594" y="40753"/>
                  <a:pt x="31488" y="40546"/>
                  <a:pt x="30710" y="40615"/>
                </a:cubicBezTo>
                <a:cubicBezTo>
                  <a:pt x="30312" y="40650"/>
                  <a:pt x="29794" y="40598"/>
                  <a:pt x="29673" y="41134"/>
                </a:cubicBezTo>
                <a:cubicBezTo>
                  <a:pt x="29552" y="41669"/>
                  <a:pt x="30036" y="41825"/>
                  <a:pt x="30382" y="42032"/>
                </a:cubicBezTo>
                <a:cubicBezTo>
                  <a:pt x="30898" y="42336"/>
                  <a:pt x="31474" y="42934"/>
                  <a:pt x="32011" y="42934"/>
                </a:cubicBezTo>
                <a:cubicBezTo>
                  <a:pt x="32175" y="42934"/>
                  <a:pt x="32336" y="42878"/>
                  <a:pt x="32490" y="42741"/>
                </a:cubicBezTo>
                <a:cubicBezTo>
                  <a:pt x="33354" y="41963"/>
                  <a:pt x="33890" y="40788"/>
                  <a:pt x="34512" y="39751"/>
                </a:cubicBezTo>
                <a:cubicBezTo>
                  <a:pt x="34586" y="39617"/>
                  <a:pt x="34289" y="39329"/>
                  <a:pt x="34602" y="39329"/>
                </a:cubicBezTo>
                <a:cubicBezTo>
                  <a:pt x="34653" y="39329"/>
                  <a:pt x="34719" y="39337"/>
                  <a:pt x="34806" y="39354"/>
                </a:cubicBezTo>
                <a:cubicBezTo>
                  <a:pt x="34890" y="39373"/>
                  <a:pt x="34965" y="39381"/>
                  <a:pt x="35031" y="39381"/>
                </a:cubicBezTo>
                <a:cubicBezTo>
                  <a:pt x="35567" y="39381"/>
                  <a:pt x="35557" y="38814"/>
                  <a:pt x="35341" y="38507"/>
                </a:cubicBezTo>
                <a:cubicBezTo>
                  <a:pt x="34806" y="37781"/>
                  <a:pt x="34546" y="36658"/>
                  <a:pt x="33561" y="36468"/>
                </a:cubicBezTo>
                <a:cubicBezTo>
                  <a:pt x="32248" y="36208"/>
                  <a:pt x="31591" y="35206"/>
                  <a:pt x="30727" y="34411"/>
                </a:cubicBezTo>
                <a:cubicBezTo>
                  <a:pt x="30468" y="34169"/>
                  <a:pt x="30278" y="33910"/>
                  <a:pt x="30485" y="33599"/>
                </a:cubicBezTo>
                <a:cubicBezTo>
                  <a:pt x="30551" y="33501"/>
                  <a:pt x="30628" y="33465"/>
                  <a:pt x="30705" y="33465"/>
                </a:cubicBezTo>
                <a:close/>
                <a:moveTo>
                  <a:pt x="65829" y="50622"/>
                </a:moveTo>
                <a:cubicBezTo>
                  <a:pt x="66138" y="50622"/>
                  <a:pt x="66376" y="50877"/>
                  <a:pt x="66569" y="51209"/>
                </a:cubicBezTo>
                <a:cubicBezTo>
                  <a:pt x="67601" y="52923"/>
                  <a:pt x="68767" y="54401"/>
                  <a:pt x="70703" y="54401"/>
                </a:cubicBezTo>
                <a:cubicBezTo>
                  <a:pt x="71167" y="54401"/>
                  <a:pt x="71676" y="54316"/>
                  <a:pt x="72237" y="54129"/>
                </a:cubicBezTo>
                <a:cubicBezTo>
                  <a:pt x="72263" y="54119"/>
                  <a:pt x="72291" y="54114"/>
                  <a:pt x="72320" y="54114"/>
                </a:cubicBezTo>
                <a:cubicBezTo>
                  <a:pt x="72487" y="54114"/>
                  <a:pt x="72701" y="54260"/>
                  <a:pt x="72877" y="54319"/>
                </a:cubicBezTo>
                <a:cubicBezTo>
                  <a:pt x="72687" y="54406"/>
                  <a:pt x="72514" y="54527"/>
                  <a:pt x="72358" y="54665"/>
                </a:cubicBezTo>
                <a:lnTo>
                  <a:pt x="72358" y="54682"/>
                </a:lnTo>
                <a:cubicBezTo>
                  <a:pt x="71675" y="55659"/>
                  <a:pt x="71022" y="56681"/>
                  <a:pt x="69648" y="56681"/>
                </a:cubicBezTo>
                <a:cubicBezTo>
                  <a:pt x="69564" y="56681"/>
                  <a:pt x="69476" y="56678"/>
                  <a:pt x="69386" y="56669"/>
                </a:cubicBezTo>
                <a:cubicBezTo>
                  <a:pt x="69196" y="56600"/>
                  <a:pt x="68850" y="56549"/>
                  <a:pt x="68850" y="56445"/>
                </a:cubicBezTo>
                <a:cubicBezTo>
                  <a:pt x="68660" y="54216"/>
                  <a:pt x="66258" y="53559"/>
                  <a:pt x="65532" y="51727"/>
                </a:cubicBezTo>
                <a:cubicBezTo>
                  <a:pt x="65394" y="51381"/>
                  <a:pt x="64945" y="50932"/>
                  <a:pt x="65584" y="50673"/>
                </a:cubicBezTo>
                <a:cubicBezTo>
                  <a:pt x="65670" y="50638"/>
                  <a:pt x="65752" y="50622"/>
                  <a:pt x="65829" y="50622"/>
                </a:cubicBezTo>
                <a:close/>
                <a:moveTo>
                  <a:pt x="50497" y="52695"/>
                </a:moveTo>
                <a:lnTo>
                  <a:pt x="50497" y="52695"/>
                </a:lnTo>
                <a:cubicBezTo>
                  <a:pt x="51016" y="52885"/>
                  <a:pt x="51863" y="52937"/>
                  <a:pt x="52001" y="53265"/>
                </a:cubicBezTo>
                <a:cubicBezTo>
                  <a:pt x="53055" y="55840"/>
                  <a:pt x="55734" y="57464"/>
                  <a:pt x="56114" y="60420"/>
                </a:cubicBezTo>
                <a:cubicBezTo>
                  <a:pt x="56252" y="61439"/>
                  <a:pt x="57323" y="61802"/>
                  <a:pt x="57859" y="62580"/>
                </a:cubicBezTo>
                <a:cubicBezTo>
                  <a:pt x="59294" y="64654"/>
                  <a:pt x="60106" y="66952"/>
                  <a:pt x="60763" y="69337"/>
                </a:cubicBezTo>
                <a:cubicBezTo>
                  <a:pt x="58533" y="67643"/>
                  <a:pt x="56615" y="65656"/>
                  <a:pt x="55336" y="63133"/>
                </a:cubicBezTo>
                <a:cubicBezTo>
                  <a:pt x="55198" y="62874"/>
                  <a:pt x="55008" y="62614"/>
                  <a:pt x="55008" y="62355"/>
                </a:cubicBezTo>
                <a:cubicBezTo>
                  <a:pt x="54990" y="58916"/>
                  <a:pt x="52139" y="56739"/>
                  <a:pt x="51189" y="53697"/>
                </a:cubicBezTo>
                <a:cubicBezTo>
                  <a:pt x="51085" y="53334"/>
                  <a:pt x="50739" y="53040"/>
                  <a:pt x="50497" y="52695"/>
                </a:cubicBezTo>
                <a:close/>
                <a:moveTo>
                  <a:pt x="87976" y="1"/>
                </a:moveTo>
                <a:cubicBezTo>
                  <a:pt x="87018" y="1"/>
                  <a:pt x="85745" y="1010"/>
                  <a:pt x="84455" y="1127"/>
                </a:cubicBezTo>
                <a:cubicBezTo>
                  <a:pt x="83776" y="1176"/>
                  <a:pt x="83111" y="1512"/>
                  <a:pt x="82448" y="1512"/>
                </a:cubicBezTo>
                <a:cubicBezTo>
                  <a:pt x="82403" y="1512"/>
                  <a:pt x="82358" y="1511"/>
                  <a:pt x="82313" y="1507"/>
                </a:cubicBezTo>
                <a:cubicBezTo>
                  <a:pt x="82281" y="1506"/>
                  <a:pt x="82250" y="1506"/>
                  <a:pt x="82218" y="1506"/>
                </a:cubicBezTo>
                <a:cubicBezTo>
                  <a:pt x="80376" y="1506"/>
                  <a:pt x="79245" y="3375"/>
                  <a:pt x="77443" y="3375"/>
                </a:cubicBezTo>
                <a:cubicBezTo>
                  <a:pt x="77340" y="3375"/>
                  <a:pt x="77235" y="3369"/>
                  <a:pt x="77128" y="3356"/>
                </a:cubicBezTo>
                <a:cubicBezTo>
                  <a:pt x="77026" y="3344"/>
                  <a:pt x="76928" y="3335"/>
                  <a:pt x="76837" y="3335"/>
                </a:cubicBezTo>
                <a:cubicBezTo>
                  <a:pt x="76434" y="3335"/>
                  <a:pt x="76136" y="3491"/>
                  <a:pt x="75953" y="4082"/>
                </a:cubicBezTo>
                <a:cubicBezTo>
                  <a:pt x="75843" y="4459"/>
                  <a:pt x="75132" y="4980"/>
                  <a:pt x="74758" y="4980"/>
                </a:cubicBezTo>
                <a:cubicBezTo>
                  <a:pt x="74720" y="4980"/>
                  <a:pt x="74687" y="4974"/>
                  <a:pt x="74657" y="4964"/>
                </a:cubicBezTo>
                <a:cubicBezTo>
                  <a:pt x="73910" y="4715"/>
                  <a:pt x="73366" y="4590"/>
                  <a:pt x="73013" y="4590"/>
                </a:cubicBezTo>
                <a:cubicBezTo>
                  <a:pt x="72190" y="4590"/>
                  <a:pt x="72409" y="5268"/>
                  <a:pt x="73534" y="6623"/>
                </a:cubicBezTo>
                <a:cubicBezTo>
                  <a:pt x="73585" y="6692"/>
                  <a:pt x="73499" y="6882"/>
                  <a:pt x="73482" y="7003"/>
                </a:cubicBezTo>
                <a:cubicBezTo>
                  <a:pt x="73413" y="6968"/>
                  <a:pt x="73292" y="6951"/>
                  <a:pt x="73240" y="6882"/>
                </a:cubicBezTo>
                <a:cubicBezTo>
                  <a:pt x="72877" y="6381"/>
                  <a:pt x="72324" y="5914"/>
                  <a:pt x="72220" y="5344"/>
                </a:cubicBezTo>
                <a:cubicBezTo>
                  <a:pt x="72065" y="4531"/>
                  <a:pt x="71961" y="3840"/>
                  <a:pt x="71010" y="3650"/>
                </a:cubicBezTo>
                <a:cubicBezTo>
                  <a:pt x="70839" y="3615"/>
                  <a:pt x="70680" y="3599"/>
                  <a:pt x="70533" y="3599"/>
                </a:cubicBezTo>
                <a:cubicBezTo>
                  <a:pt x="69359" y="3599"/>
                  <a:pt x="68898" y="4626"/>
                  <a:pt x="68315" y="5517"/>
                </a:cubicBezTo>
                <a:cubicBezTo>
                  <a:pt x="67865" y="6208"/>
                  <a:pt x="68349" y="6536"/>
                  <a:pt x="68729" y="6934"/>
                </a:cubicBezTo>
                <a:cubicBezTo>
                  <a:pt x="68798" y="7003"/>
                  <a:pt x="68850" y="7089"/>
                  <a:pt x="68902" y="7176"/>
                </a:cubicBezTo>
                <a:cubicBezTo>
                  <a:pt x="68817" y="7188"/>
                  <a:pt x="68731" y="7200"/>
                  <a:pt x="68645" y="7200"/>
                </a:cubicBezTo>
                <a:cubicBezTo>
                  <a:pt x="68610" y="7200"/>
                  <a:pt x="68575" y="7198"/>
                  <a:pt x="68539" y="7193"/>
                </a:cubicBezTo>
                <a:cubicBezTo>
                  <a:pt x="67376" y="7024"/>
                  <a:pt x="66212" y="6691"/>
                  <a:pt x="65033" y="6691"/>
                </a:cubicBezTo>
                <a:cubicBezTo>
                  <a:pt x="65003" y="6691"/>
                  <a:pt x="64974" y="6691"/>
                  <a:pt x="64945" y="6692"/>
                </a:cubicBezTo>
                <a:cubicBezTo>
                  <a:pt x="64584" y="6692"/>
                  <a:pt x="63909" y="6196"/>
                  <a:pt x="63437" y="6196"/>
                </a:cubicBezTo>
                <a:cubicBezTo>
                  <a:pt x="63072" y="6196"/>
                  <a:pt x="62827" y="6492"/>
                  <a:pt x="62940" y="7538"/>
                </a:cubicBezTo>
                <a:cubicBezTo>
                  <a:pt x="62940" y="7608"/>
                  <a:pt x="62525" y="7711"/>
                  <a:pt x="62283" y="7798"/>
                </a:cubicBezTo>
                <a:cubicBezTo>
                  <a:pt x="61879" y="7955"/>
                  <a:pt x="61464" y="8005"/>
                  <a:pt x="61043" y="8005"/>
                </a:cubicBezTo>
                <a:cubicBezTo>
                  <a:pt x="60325" y="8005"/>
                  <a:pt x="59591" y="7860"/>
                  <a:pt x="58870" y="7860"/>
                </a:cubicBezTo>
                <a:cubicBezTo>
                  <a:pt x="58295" y="7860"/>
                  <a:pt x="57729" y="7952"/>
                  <a:pt x="57185" y="8282"/>
                </a:cubicBezTo>
                <a:cubicBezTo>
                  <a:pt x="56736" y="8610"/>
                  <a:pt x="56304" y="8938"/>
                  <a:pt x="55837" y="9267"/>
                </a:cubicBezTo>
                <a:cubicBezTo>
                  <a:pt x="55671" y="9381"/>
                  <a:pt x="55417" y="9527"/>
                  <a:pt x="55226" y="9527"/>
                </a:cubicBezTo>
                <a:cubicBezTo>
                  <a:pt x="55100" y="9527"/>
                  <a:pt x="55001" y="9463"/>
                  <a:pt x="54973" y="9284"/>
                </a:cubicBezTo>
                <a:cubicBezTo>
                  <a:pt x="54819" y="8258"/>
                  <a:pt x="54209" y="8003"/>
                  <a:pt x="53545" y="8003"/>
                </a:cubicBezTo>
                <a:cubicBezTo>
                  <a:pt x="53313" y="8003"/>
                  <a:pt x="53075" y="8034"/>
                  <a:pt x="52848" y="8074"/>
                </a:cubicBezTo>
                <a:cubicBezTo>
                  <a:pt x="51897" y="8264"/>
                  <a:pt x="52416" y="9232"/>
                  <a:pt x="52295" y="9854"/>
                </a:cubicBezTo>
                <a:cubicBezTo>
                  <a:pt x="52156" y="10615"/>
                  <a:pt x="51344" y="10096"/>
                  <a:pt x="50998" y="10545"/>
                </a:cubicBezTo>
                <a:cubicBezTo>
                  <a:pt x="50949" y="10609"/>
                  <a:pt x="50910" y="10635"/>
                  <a:pt x="50880" y="10635"/>
                </a:cubicBezTo>
                <a:cubicBezTo>
                  <a:pt x="50805" y="10635"/>
                  <a:pt x="50789" y="10469"/>
                  <a:pt x="50826" y="10321"/>
                </a:cubicBezTo>
                <a:cubicBezTo>
                  <a:pt x="51033" y="8990"/>
                  <a:pt x="50221" y="8541"/>
                  <a:pt x="49115" y="8161"/>
                </a:cubicBezTo>
                <a:cubicBezTo>
                  <a:pt x="46903" y="7400"/>
                  <a:pt x="44535" y="7176"/>
                  <a:pt x="42392" y="6070"/>
                </a:cubicBezTo>
                <a:cubicBezTo>
                  <a:pt x="41667" y="5697"/>
                  <a:pt x="40852" y="5536"/>
                  <a:pt x="40032" y="5536"/>
                </a:cubicBezTo>
                <a:cubicBezTo>
                  <a:pt x="39367" y="5536"/>
                  <a:pt x="38699" y="5642"/>
                  <a:pt x="38072" y="5828"/>
                </a:cubicBezTo>
                <a:cubicBezTo>
                  <a:pt x="36033" y="6432"/>
                  <a:pt x="33838" y="6502"/>
                  <a:pt x="31989" y="7642"/>
                </a:cubicBezTo>
                <a:cubicBezTo>
                  <a:pt x="31263" y="8074"/>
                  <a:pt x="29206" y="7296"/>
                  <a:pt x="30226" y="9457"/>
                </a:cubicBezTo>
                <a:cubicBezTo>
                  <a:pt x="30278" y="9578"/>
                  <a:pt x="29984" y="9854"/>
                  <a:pt x="29863" y="10079"/>
                </a:cubicBezTo>
                <a:cubicBezTo>
                  <a:pt x="28653" y="12412"/>
                  <a:pt x="26234" y="13224"/>
                  <a:pt x="24229" y="14555"/>
                </a:cubicBezTo>
                <a:cubicBezTo>
                  <a:pt x="22536" y="15661"/>
                  <a:pt x="23486" y="17112"/>
                  <a:pt x="24022" y="18236"/>
                </a:cubicBezTo>
                <a:cubicBezTo>
                  <a:pt x="24328" y="18880"/>
                  <a:pt x="24972" y="19241"/>
                  <a:pt x="25627" y="19241"/>
                </a:cubicBezTo>
                <a:cubicBezTo>
                  <a:pt x="26008" y="19241"/>
                  <a:pt x="26393" y="19119"/>
                  <a:pt x="26718" y="18858"/>
                </a:cubicBezTo>
                <a:cubicBezTo>
                  <a:pt x="27228" y="18470"/>
                  <a:pt x="27609" y="18306"/>
                  <a:pt x="27903" y="18306"/>
                </a:cubicBezTo>
                <a:cubicBezTo>
                  <a:pt x="28524" y="18306"/>
                  <a:pt x="28748" y="19042"/>
                  <a:pt x="28947" y="19946"/>
                </a:cubicBezTo>
                <a:cubicBezTo>
                  <a:pt x="28982" y="20223"/>
                  <a:pt x="28999" y="20499"/>
                  <a:pt x="28982" y="20776"/>
                </a:cubicBezTo>
                <a:cubicBezTo>
                  <a:pt x="28774" y="20551"/>
                  <a:pt x="28446" y="20396"/>
                  <a:pt x="28342" y="20119"/>
                </a:cubicBezTo>
                <a:cubicBezTo>
                  <a:pt x="28124" y="19474"/>
                  <a:pt x="27849" y="19234"/>
                  <a:pt x="27528" y="19234"/>
                </a:cubicBezTo>
                <a:cubicBezTo>
                  <a:pt x="27212" y="19234"/>
                  <a:pt x="26853" y="19465"/>
                  <a:pt x="26459" y="19774"/>
                </a:cubicBezTo>
                <a:cubicBezTo>
                  <a:pt x="25646" y="20379"/>
                  <a:pt x="25958" y="21260"/>
                  <a:pt x="26130" y="21899"/>
                </a:cubicBezTo>
                <a:cubicBezTo>
                  <a:pt x="26459" y="23092"/>
                  <a:pt x="25802" y="23420"/>
                  <a:pt x="24938" y="23627"/>
                </a:cubicBezTo>
                <a:cubicBezTo>
                  <a:pt x="23901" y="23852"/>
                  <a:pt x="23072" y="24267"/>
                  <a:pt x="22553" y="25269"/>
                </a:cubicBezTo>
                <a:cubicBezTo>
                  <a:pt x="22273" y="25790"/>
                  <a:pt x="21682" y="26043"/>
                  <a:pt x="21157" y="26043"/>
                </a:cubicBezTo>
                <a:cubicBezTo>
                  <a:pt x="21003" y="26043"/>
                  <a:pt x="20855" y="26021"/>
                  <a:pt x="20721" y="25978"/>
                </a:cubicBezTo>
                <a:cubicBezTo>
                  <a:pt x="20116" y="25788"/>
                  <a:pt x="20963" y="25390"/>
                  <a:pt x="20946" y="24993"/>
                </a:cubicBezTo>
                <a:cubicBezTo>
                  <a:pt x="20929" y="24543"/>
                  <a:pt x="20738" y="24129"/>
                  <a:pt x="20410" y="23835"/>
                </a:cubicBezTo>
                <a:cubicBezTo>
                  <a:pt x="19477" y="22798"/>
                  <a:pt x="18354" y="21709"/>
                  <a:pt x="18215" y="20327"/>
                </a:cubicBezTo>
                <a:cubicBezTo>
                  <a:pt x="18098" y="19205"/>
                  <a:pt x="17332" y="17921"/>
                  <a:pt x="16200" y="17921"/>
                </a:cubicBezTo>
                <a:cubicBezTo>
                  <a:pt x="16163" y="17921"/>
                  <a:pt x="16127" y="17922"/>
                  <a:pt x="16090" y="17925"/>
                </a:cubicBezTo>
                <a:cubicBezTo>
                  <a:pt x="15105" y="17976"/>
                  <a:pt x="14068" y="18391"/>
                  <a:pt x="13930" y="19221"/>
                </a:cubicBezTo>
                <a:cubicBezTo>
                  <a:pt x="13670" y="20430"/>
                  <a:pt x="14137" y="21709"/>
                  <a:pt x="15122" y="22470"/>
                </a:cubicBezTo>
                <a:cubicBezTo>
                  <a:pt x="15952" y="23109"/>
                  <a:pt x="15952" y="23161"/>
                  <a:pt x="15589" y="23489"/>
                </a:cubicBezTo>
                <a:cubicBezTo>
                  <a:pt x="14448" y="24526"/>
                  <a:pt x="14915" y="26116"/>
                  <a:pt x="14292" y="27377"/>
                </a:cubicBezTo>
                <a:cubicBezTo>
                  <a:pt x="14143" y="27687"/>
                  <a:pt x="14420" y="27822"/>
                  <a:pt x="14760" y="27822"/>
                </a:cubicBezTo>
                <a:cubicBezTo>
                  <a:pt x="14932" y="27822"/>
                  <a:pt x="15121" y="27787"/>
                  <a:pt x="15278" y="27723"/>
                </a:cubicBezTo>
                <a:cubicBezTo>
                  <a:pt x="16510" y="27249"/>
                  <a:pt x="17772" y="26919"/>
                  <a:pt x="19089" y="26919"/>
                </a:cubicBezTo>
                <a:cubicBezTo>
                  <a:pt x="19212" y="26919"/>
                  <a:pt x="19336" y="26922"/>
                  <a:pt x="19460" y="26928"/>
                </a:cubicBezTo>
                <a:lnTo>
                  <a:pt x="19874" y="26928"/>
                </a:lnTo>
                <a:cubicBezTo>
                  <a:pt x="19840" y="26997"/>
                  <a:pt x="19823" y="27136"/>
                  <a:pt x="19753" y="27153"/>
                </a:cubicBezTo>
                <a:cubicBezTo>
                  <a:pt x="18630" y="27585"/>
                  <a:pt x="17507" y="28138"/>
                  <a:pt x="16349" y="28414"/>
                </a:cubicBezTo>
                <a:cubicBezTo>
                  <a:pt x="15692" y="28570"/>
                  <a:pt x="14915" y="28432"/>
                  <a:pt x="14707" y="29209"/>
                </a:cubicBezTo>
                <a:cubicBezTo>
                  <a:pt x="14500" y="30004"/>
                  <a:pt x="15260" y="30194"/>
                  <a:pt x="15813" y="30505"/>
                </a:cubicBezTo>
                <a:cubicBezTo>
                  <a:pt x="17161" y="31318"/>
                  <a:pt x="17369" y="32493"/>
                  <a:pt x="16867" y="33910"/>
                </a:cubicBezTo>
                <a:cubicBezTo>
                  <a:pt x="16664" y="34503"/>
                  <a:pt x="16349" y="34660"/>
                  <a:pt x="15995" y="34660"/>
                </a:cubicBezTo>
                <a:cubicBezTo>
                  <a:pt x="15626" y="34660"/>
                  <a:pt x="15216" y="34489"/>
                  <a:pt x="14846" y="34463"/>
                </a:cubicBezTo>
                <a:cubicBezTo>
                  <a:pt x="13916" y="34396"/>
                  <a:pt x="12987" y="34203"/>
                  <a:pt x="12042" y="34203"/>
                </a:cubicBezTo>
                <a:cubicBezTo>
                  <a:pt x="12003" y="34203"/>
                  <a:pt x="11964" y="34203"/>
                  <a:pt x="11925" y="34204"/>
                </a:cubicBezTo>
                <a:cubicBezTo>
                  <a:pt x="10957" y="34221"/>
                  <a:pt x="9834" y="34446"/>
                  <a:pt x="9989" y="35759"/>
                </a:cubicBezTo>
                <a:cubicBezTo>
                  <a:pt x="10128" y="37072"/>
                  <a:pt x="9834" y="38196"/>
                  <a:pt x="9592" y="39440"/>
                </a:cubicBezTo>
                <a:cubicBezTo>
                  <a:pt x="9385" y="40425"/>
                  <a:pt x="8693" y="42136"/>
                  <a:pt x="10542" y="42464"/>
                </a:cubicBezTo>
                <a:cubicBezTo>
                  <a:pt x="12305" y="42758"/>
                  <a:pt x="12668" y="43173"/>
                  <a:pt x="11735" y="44693"/>
                </a:cubicBezTo>
                <a:cubicBezTo>
                  <a:pt x="11389" y="45298"/>
                  <a:pt x="10888" y="45817"/>
                  <a:pt x="10300" y="46180"/>
                </a:cubicBezTo>
                <a:cubicBezTo>
                  <a:pt x="9108" y="46871"/>
                  <a:pt x="8175" y="47752"/>
                  <a:pt x="8313" y="49342"/>
                </a:cubicBezTo>
                <a:cubicBezTo>
                  <a:pt x="8365" y="49964"/>
                  <a:pt x="8140" y="50707"/>
                  <a:pt x="7535" y="50967"/>
                </a:cubicBezTo>
                <a:cubicBezTo>
                  <a:pt x="5168" y="52021"/>
                  <a:pt x="3768" y="53991"/>
                  <a:pt x="2662" y="56168"/>
                </a:cubicBezTo>
                <a:cubicBezTo>
                  <a:pt x="1781" y="57931"/>
                  <a:pt x="122" y="59469"/>
                  <a:pt x="1279" y="61888"/>
                </a:cubicBezTo>
                <a:cubicBezTo>
                  <a:pt x="1936" y="63236"/>
                  <a:pt x="1573" y="64792"/>
                  <a:pt x="830" y="66209"/>
                </a:cubicBezTo>
                <a:cubicBezTo>
                  <a:pt x="1" y="67781"/>
                  <a:pt x="744" y="70477"/>
                  <a:pt x="2126" y="71687"/>
                </a:cubicBezTo>
                <a:cubicBezTo>
                  <a:pt x="2420" y="71946"/>
                  <a:pt x="2662" y="72240"/>
                  <a:pt x="2818" y="72586"/>
                </a:cubicBezTo>
                <a:cubicBezTo>
                  <a:pt x="4027" y="75040"/>
                  <a:pt x="5462" y="77303"/>
                  <a:pt x="7881" y="78755"/>
                </a:cubicBezTo>
                <a:cubicBezTo>
                  <a:pt x="8455" y="79100"/>
                  <a:pt x="9053" y="79742"/>
                  <a:pt x="9645" y="79742"/>
                </a:cubicBezTo>
                <a:cubicBezTo>
                  <a:pt x="9766" y="79742"/>
                  <a:pt x="9887" y="79715"/>
                  <a:pt x="10007" y="79654"/>
                </a:cubicBezTo>
                <a:cubicBezTo>
                  <a:pt x="12824" y="78254"/>
                  <a:pt x="16142" y="79844"/>
                  <a:pt x="18889" y="77874"/>
                </a:cubicBezTo>
                <a:cubicBezTo>
                  <a:pt x="19326" y="77562"/>
                  <a:pt x="19938" y="77352"/>
                  <a:pt x="20558" y="77352"/>
                </a:cubicBezTo>
                <a:cubicBezTo>
                  <a:pt x="21313" y="77352"/>
                  <a:pt x="22079" y="77663"/>
                  <a:pt x="22553" y="78479"/>
                </a:cubicBezTo>
                <a:cubicBezTo>
                  <a:pt x="23034" y="79313"/>
                  <a:pt x="23538" y="79650"/>
                  <a:pt x="24283" y="79650"/>
                </a:cubicBezTo>
                <a:cubicBezTo>
                  <a:pt x="24448" y="79650"/>
                  <a:pt x="24626" y="79633"/>
                  <a:pt x="24817" y="79602"/>
                </a:cubicBezTo>
                <a:cubicBezTo>
                  <a:pt x="24994" y="79574"/>
                  <a:pt x="25161" y="79561"/>
                  <a:pt x="25317" y="79561"/>
                </a:cubicBezTo>
                <a:cubicBezTo>
                  <a:pt x="26715" y="79561"/>
                  <a:pt x="27271" y="80640"/>
                  <a:pt x="26960" y="82194"/>
                </a:cubicBezTo>
                <a:cubicBezTo>
                  <a:pt x="26683" y="83611"/>
                  <a:pt x="25750" y="85218"/>
                  <a:pt x="26545" y="86480"/>
                </a:cubicBezTo>
                <a:cubicBezTo>
                  <a:pt x="27461" y="87966"/>
                  <a:pt x="28515" y="89400"/>
                  <a:pt x="29206" y="90973"/>
                </a:cubicBezTo>
                <a:cubicBezTo>
                  <a:pt x="30416" y="93721"/>
                  <a:pt x="31298" y="96641"/>
                  <a:pt x="29777" y="99631"/>
                </a:cubicBezTo>
                <a:cubicBezTo>
                  <a:pt x="28809" y="101515"/>
                  <a:pt x="28619" y="103502"/>
                  <a:pt x="29535" y="105369"/>
                </a:cubicBezTo>
                <a:cubicBezTo>
                  <a:pt x="30503" y="107321"/>
                  <a:pt x="31228" y="109274"/>
                  <a:pt x="31488" y="111469"/>
                </a:cubicBezTo>
                <a:cubicBezTo>
                  <a:pt x="31712" y="113456"/>
                  <a:pt x="31695" y="115599"/>
                  <a:pt x="33371" y="117172"/>
                </a:cubicBezTo>
                <a:cubicBezTo>
                  <a:pt x="34322" y="118088"/>
                  <a:pt x="34581" y="119436"/>
                  <a:pt x="35013" y="120645"/>
                </a:cubicBezTo>
                <a:cubicBezTo>
                  <a:pt x="35393" y="121717"/>
                  <a:pt x="34546" y="123065"/>
                  <a:pt x="35843" y="123998"/>
                </a:cubicBezTo>
                <a:cubicBezTo>
                  <a:pt x="36206" y="124270"/>
                  <a:pt x="36549" y="124368"/>
                  <a:pt x="36881" y="124368"/>
                </a:cubicBezTo>
                <a:cubicBezTo>
                  <a:pt x="37735" y="124368"/>
                  <a:pt x="38515" y="123721"/>
                  <a:pt x="39372" y="123721"/>
                </a:cubicBezTo>
                <a:cubicBezTo>
                  <a:pt x="39388" y="123721"/>
                  <a:pt x="39404" y="123721"/>
                  <a:pt x="39420" y="123721"/>
                </a:cubicBezTo>
                <a:cubicBezTo>
                  <a:pt x="39526" y="123724"/>
                  <a:pt x="39630" y="123725"/>
                  <a:pt x="39734" y="123725"/>
                </a:cubicBezTo>
                <a:cubicBezTo>
                  <a:pt x="44937" y="123725"/>
                  <a:pt x="47636" y="120353"/>
                  <a:pt x="49754" y="116100"/>
                </a:cubicBezTo>
                <a:cubicBezTo>
                  <a:pt x="50186" y="115236"/>
                  <a:pt x="49720" y="113957"/>
                  <a:pt x="50826" y="113508"/>
                </a:cubicBezTo>
                <a:cubicBezTo>
                  <a:pt x="52761" y="112713"/>
                  <a:pt x="53193" y="111175"/>
                  <a:pt x="52692" y="109499"/>
                </a:cubicBezTo>
                <a:cubicBezTo>
                  <a:pt x="51949" y="107028"/>
                  <a:pt x="53297" y="106112"/>
                  <a:pt x="55181" y="105282"/>
                </a:cubicBezTo>
                <a:cubicBezTo>
                  <a:pt x="57773" y="104107"/>
                  <a:pt x="59449" y="98370"/>
                  <a:pt x="57963" y="96071"/>
                </a:cubicBezTo>
                <a:cubicBezTo>
                  <a:pt x="56770" y="94239"/>
                  <a:pt x="57099" y="92217"/>
                  <a:pt x="57444" y="90316"/>
                </a:cubicBezTo>
                <a:cubicBezTo>
                  <a:pt x="57911" y="87621"/>
                  <a:pt x="59933" y="85823"/>
                  <a:pt x="61851" y="84164"/>
                </a:cubicBezTo>
                <a:cubicBezTo>
                  <a:pt x="65601" y="80915"/>
                  <a:pt x="68055" y="76992"/>
                  <a:pt x="69109" y="72171"/>
                </a:cubicBezTo>
                <a:cubicBezTo>
                  <a:pt x="69271" y="71459"/>
                  <a:pt x="69266" y="70656"/>
                  <a:pt x="68371" y="70656"/>
                </a:cubicBezTo>
                <a:cubicBezTo>
                  <a:pt x="68311" y="70656"/>
                  <a:pt x="68246" y="70660"/>
                  <a:pt x="68176" y="70667"/>
                </a:cubicBezTo>
                <a:cubicBezTo>
                  <a:pt x="67157" y="70788"/>
                  <a:pt x="66154" y="71151"/>
                  <a:pt x="65152" y="71462"/>
                </a:cubicBezTo>
                <a:cubicBezTo>
                  <a:pt x="63960" y="71826"/>
                  <a:pt x="63201" y="72060"/>
                  <a:pt x="62664" y="72060"/>
                </a:cubicBezTo>
                <a:cubicBezTo>
                  <a:pt x="61727" y="72060"/>
                  <a:pt x="61469" y="71346"/>
                  <a:pt x="60772" y="69363"/>
                </a:cubicBezTo>
                <a:lnTo>
                  <a:pt x="60772" y="69363"/>
                </a:lnTo>
                <a:cubicBezTo>
                  <a:pt x="61180" y="69747"/>
                  <a:pt x="61467" y="70422"/>
                  <a:pt x="62074" y="70422"/>
                </a:cubicBezTo>
                <a:cubicBezTo>
                  <a:pt x="62180" y="70422"/>
                  <a:pt x="62295" y="70402"/>
                  <a:pt x="62422" y="70356"/>
                </a:cubicBezTo>
                <a:cubicBezTo>
                  <a:pt x="63925" y="69769"/>
                  <a:pt x="65359" y="68957"/>
                  <a:pt x="66897" y="68455"/>
                </a:cubicBezTo>
                <a:cubicBezTo>
                  <a:pt x="68660" y="67868"/>
                  <a:pt x="69732" y="66209"/>
                  <a:pt x="71391" y="65639"/>
                </a:cubicBezTo>
                <a:cubicBezTo>
                  <a:pt x="73706" y="64844"/>
                  <a:pt x="76713" y="61716"/>
                  <a:pt x="76852" y="59383"/>
                </a:cubicBezTo>
                <a:cubicBezTo>
                  <a:pt x="76834" y="59072"/>
                  <a:pt x="76713" y="58778"/>
                  <a:pt x="76506" y="58553"/>
                </a:cubicBezTo>
                <a:cubicBezTo>
                  <a:pt x="75918" y="57810"/>
                  <a:pt x="75279" y="57153"/>
                  <a:pt x="74294" y="56894"/>
                </a:cubicBezTo>
                <a:cubicBezTo>
                  <a:pt x="73724" y="56739"/>
                  <a:pt x="73378" y="56151"/>
                  <a:pt x="73516" y="55581"/>
                </a:cubicBezTo>
                <a:cubicBezTo>
                  <a:pt x="73547" y="55481"/>
                  <a:pt x="73596" y="55443"/>
                  <a:pt x="73658" y="55443"/>
                </a:cubicBezTo>
                <a:cubicBezTo>
                  <a:pt x="73842" y="55443"/>
                  <a:pt x="74139" y="55775"/>
                  <a:pt x="74398" y="55788"/>
                </a:cubicBezTo>
                <a:cubicBezTo>
                  <a:pt x="75366" y="55855"/>
                  <a:pt x="76333" y="56083"/>
                  <a:pt x="77301" y="56083"/>
                </a:cubicBezTo>
                <a:cubicBezTo>
                  <a:pt x="77336" y="56083"/>
                  <a:pt x="77370" y="56083"/>
                  <a:pt x="77405" y="56082"/>
                </a:cubicBezTo>
                <a:cubicBezTo>
                  <a:pt x="77727" y="56077"/>
                  <a:pt x="78047" y="56073"/>
                  <a:pt x="78365" y="56073"/>
                </a:cubicBezTo>
                <a:cubicBezTo>
                  <a:pt x="81373" y="56073"/>
                  <a:pt x="84145" y="56432"/>
                  <a:pt x="85786" y="59746"/>
                </a:cubicBezTo>
                <a:cubicBezTo>
                  <a:pt x="86136" y="60461"/>
                  <a:pt x="86996" y="61297"/>
                  <a:pt x="88011" y="61297"/>
                </a:cubicBezTo>
                <a:cubicBezTo>
                  <a:pt x="88148" y="61297"/>
                  <a:pt x="88288" y="61282"/>
                  <a:pt x="88430" y="61249"/>
                </a:cubicBezTo>
                <a:cubicBezTo>
                  <a:pt x="88585" y="61214"/>
                  <a:pt x="88707" y="61197"/>
                  <a:pt x="88805" y="61197"/>
                </a:cubicBezTo>
                <a:cubicBezTo>
                  <a:pt x="89186" y="61197"/>
                  <a:pt x="89184" y="61451"/>
                  <a:pt x="89225" y="61837"/>
                </a:cubicBezTo>
                <a:cubicBezTo>
                  <a:pt x="89830" y="66554"/>
                  <a:pt x="91990" y="70685"/>
                  <a:pt x="94133" y="74832"/>
                </a:cubicBezTo>
                <a:cubicBezTo>
                  <a:pt x="94475" y="75487"/>
                  <a:pt x="94875" y="75911"/>
                  <a:pt x="95290" y="75911"/>
                </a:cubicBezTo>
                <a:cubicBezTo>
                  <a:pt x="95652" y="75911"/>
                  <a:pt x="96025" y="75588"/>
                  <a:pt x="96380" y="74815"/>
                </a:cubicBezTo>
                <a:cubicBezTo>
                  <a:pt x="96622" y="74297"/>
                  <a:pt x="97036" y="73847"/>
                  <a:pt x="97382" y="73381"/>
                </a:cubicBezTo>
                <a:lnTo>
                  <a:pt x="97538" y="73225"/>
                </a:lnTo>
                <a:cubicBezTo>
                  <a:pt x="98212" y="71618"/>
                  <a:pt x="98056" y="69993"/>
                  <a:pt x="97831" y="68317"/>
                </a:cubicBezTo>
                <a:cubicBezTo>
                  <a:pt x="97762" y="67833"/>
                  <a:pt x="97589" y="67211"/>
                  <a:pt x="98194" y="67073"/>
                </a:cubicBezTo>
                <a:cubicBezTo>
                  <a:pt x="99784" y="66693"/>
                  <a:pt x="100268" y="65258"/>
                  <a:pt x="101149" y="64187"/>
                </a:cubicBezTo>
                <a:cubicBezTo>
                  <a:pt x="102117" y="63029"/>
                  <a:pt x="103137" y="61629"/>
                  <a:pt x="104243" y="60903"/>
                </a:cubicBezTo>
                <a:cubicBezTo>
                  <a:pt x="104825" y="60515"/>
                  <a:pt x="105739" y="59942"/>
                  <a:pt x="106690" y="59942"/>
                </a:cubicBezTo>
                <a:cubicBezTo>
                  <a:pt x="107432" y="59942"/>
                  <a:pt x="108196" y="60292"/>
                  <a:pt x="108840" y="61353"/>
                </a:cubicBezTo>
                <a:cubicBezTo>
                  <a:pt x="109600" y="62632"/>
                  <a:pt x="110965" y="63565"/>
                  <a:pt x="111017" y="65258"/>
                </a:cubicBezTo>
                <a:cubicBezTo>
                  <a:pt x="111034" y="65777"/>
                  <a:pt x="110793" y="66433"/>
                  <a:pt x="111536" y="66693"/>
                </a:cubicBezTo>
                <a:cubicBezTo>
                  <a:pt x="111822" y="66788"/>
                  <a:pt x="112112" y="66862"/>
                  <a:pt x="112391" y="66862"/>
                </a:cubicBezTo>
                <a:cubicBezTo>
                  <a:pt x="112769" y="66862"/>
                  <a:pt x="113129" y="66727"/>
                  <a:pt x="113437" y="66330"/>
                </a:cubicBezTo>
                <a:cubicBezTo>
                  <a:pt x="113540" y="66205"/>
                  <a:pt x="113700" y="66031"/>
                  <a:pt x="113856" y="66031"/>
                </a:cubicBezTo>
                <a:cubicBezTo>
                  <a:pt x="113960" y="66031"/>
                  <a:pt x="114062" y="66109"/>
                  <a:pt x="114145" y="66330"/>
                </a:cubicBezTo>
                <a:cubicBezTo>
                  <a:pt x="114543" y="67470"/>
                  <a:pt x="114802" y="68663"/>
                  <a:pt x="115286" y="69769"/>
                </a:cubicBezTo>
                <a:cubicBezTo>
                  <a:pt x="116271" y="72033"/>
                  <a:pt x="114940" y="74677"/>
                  <a:pt x="116858" y="76871"/>
                </a:cubicBezTo>
                <a:cubicBezTo>
                  <a:pt x="118241" y="78461"/>
                  <a:pt x="118362" y="80915"/>
                  <a:pt x="119900" y="82540"/>
                </a:cubicBezTo>
                <a:cubicBezTo>
                  <a:pt x="120401" y="82799"/>
                  <a:pt x="120885" y="83058"/>
                  <a:pt x="121386" y="83300"/>
                </a:cubicBezTo>
                <a:cubicBezTo>
                  <a:pt x="121538" y="83368"/>
                  <a:pt x="121699" y="83403"/>
                  <a:pt x="121846" y="83403"/>
                </a:cubicBezTo>
                <a:cubicBezTo>
                  <a:pt x="122184" y="83403"/>
                  <a:pt x="122445" y="83219"/>
                  <a:pt x="122337" y="82834"/>
                </a:cubicBezTo>
                <a:cubicBezTo>
                  <a:pt x="121818" y="80915"/>
                  <a:pt x="121991" y="78790"/>
                  <a:pt x="119969" y="77355"/>
                </a:cubicBezTo>
                <a:cubicBezTo>
                  <a:pt x="118414" y="76249"/>
                  <a:pt x="117239" y="74521"/>
                  <a:pt x="117463" y="72378"/>
                </a:cubicBezTo>
                <a:cubicBezTo>
                  <a:pt x="117528" y="71821"/>
                  <a:pt x="116912" y="70437"/>
                  <a:pt x="117695" y="70437"/>
                </a:cubicBezTo>
                <a:cubicBezTo>
                  <a:pt x="117955" y="70437"/>
                  <a:pt x="118371" y="70590"/>
                  <a:pt x="119019" y="70979"/>
                </a:cubicBezTo>
                <a:cubicBezTo>
                  <a:pt x="120194" y="71704"/>
                  <a:pt x="121386" y="72655"/>
                  <a:pt x="121749" y="73605"/>
                </a:cubicBezTo>
                <a:cubicBezTo>
                  <a:pt x="122096" y="74553"/>
                  <a:pt x="122434" y="74868"/>
                  <a:pt x="122776" y="74868"/>
                </a:cubicBezTo>
                <a:cubicBezTo>
                  <a:pt x="123251" y="74868"/>
                  <a:pt x="123732" y="74261"/>
                  <a:pt x="124255" y="73899"/>
                </a:cubicBezTo>
                <a:cubicBezTo>
                  <a:pt x="124531" y="73709"/>
                  <a:pt x="124721" y="73363"/>
                  <a:pt x="125015" y="73208"/>
                </a:cubicBezTo>
                <a:cubicBezTo>
                  <a:pt x="126743" y="72292"/>
                  <a:pt x="127210" y="70961"/>
                  <a:pt x="126743" y="69043"/>
                </a:cubicBezTo>
                <a:cubicBezTo>
                  <a:pt x="126294" y="67159"/>
                  <a:pt x="125292" y="65725"/>
                  <a:pt x="123892" y="64533"/>
                </a:cubicBezTo>
                <a:cubicBezTo>
                  <a:pt x="122596" y="63409"/>
                  <a:pt x="122285" y="62459"/>
                  <a:pt x="123546" y="61059"/>
                </a:cubicBezTo>
                <a:cubicBezTo>
                  <a:pt x="123952" y="60621"/>
                  <a:pt x="124332" y="60388"/>
                  <a:pt x="124705" y="60388"/>
                </a:cubicBezTo>
                <a:cubicBezTo>
                  <a:pt x="124936" y="60388"/>
                  <a:pt x="125164" y="60477"/>
                  <a:pt x="125395" y="60661"/>
                </a:cubicBezTo>
                <a:cubicBezTo>
                  <a:pt x="126000" y="61145"/>
                  <a:pt x="125810" y="61750"/>
                  <a:pt x="125119" y="62234"/>
                </a:cubicBezTo>
                <a:cubicBezTo>
                  <a:pt x="124618" y="62580"/>
                  <a:pt x="124445" y="63219"/>
                  <a:pt x="125050" y="63651"/>
                </a:cubicBezTo>
                <a:cubicBezTo>
                  <a:pt x="125442" y="63952"/>
                  <a:pt x="125858" y="64171"/>
                  <a:pt x="126268" y="64171"/>
                </a:cubicBezTo>
                <a:cubicBezTo>
                  <a:pt x="126635" y="64171"/>
                  <a:pt x="126996" y="63996"/>
                  <a:pt x="127331" y="63547"/>
                </a:cubicBezTo>
                <a:cubicBezTo>
                  <a:pt x="127694" y="63046"/>
                  <a:pt x="128247" y="62407"/>
                  <a:pt x="127469" y="61940"/>
                </a:cubicBezTo>
                <a:cubicBezTo>
                  <a:pt x="126398" y="61318"/>
                  <a:pt x="127037" y="61042"/>
                  <a:pt x="127590" y="60696"/>
                </a:cubicBezTo>
                <a:cubicBezTo>
                  <a:pt x="130061" y="59210"/>
                  <a:pt x="133449" y="59106"/>
                  <a:pt x="134693" y="55788"/>
                </a:cubicBezTo>
                <a:cubicBezTo>
                  <a:pt x="135298" y="54146"/>
                  <a:pt x="136093" y="52591"/>
                  <a:pt x="135851" y="50725"/>
                </a:cubicBezTo>
                <a:cubicBezTo>
                  <a:pt x="135522" y="48288"/>
                  <a:pt x="133932" y="46629"/>
                  <a:pt x="132498" y="44918"/>
                </a:cubicBezTo>
                <a:cubicBezTo>
                  <a:pt x="131772" y="44054"/>
                  <a:pt x="131859" y="43622"/>
                  <a:pt x="132775" y="43173"/>
                </a:cubicBezTo>
                <a:cubicBezTo>
                  <a:pt x="133120" y="43017"/>
                  <a:pt x="133397" y="42793"/>
                  <a:pt x="133362" y="42378"/>
                </a:cubicBezTo>
                <a:cubicBezTo>
                  <a:pt x="133345" y="41980"/>
                  <a:pt x="133051" y="41635"/>
                  <a:pt x="132671" y="41548"/>
                </a:cubicBezTo>
                <a:cubicBezTo>
                  <a:pt x="132227" y="41462"/>
                  <a:pt x="131713" y="41297"/>
                  <a:pt x="131292" y="41297"/>
                </a:cubicBezTo>
                <a:cubicBezTo>
                  <a:pt x="131122" y="41297"/>
                  <a:pt x="130968" y="41323"/>
                  <a:pt x="130839" y="41393"/>
                </a:cubicBezTo>
                <a:cubicBezTo>
                  <a:pt x="130667" y="41486"/>
                  <a:pt x="130517" y="41524"/>
                  <a:pt x="130385" y="41524"/>
                </a:cubicBezTo>
                <a:cubicBezTo>
                  <a:pt x="129751" y="41524"/>
                  <a:pt x="129496" y="40648"/>
                  <a:pt x="128935" y="40648"/>
                </a:cubicBezTo>
                <a:cubicBezTo>
                  <a:pt x="128871" y="40648"/>
                  <a:pt x="128804" y="40659"/>
                  <a:pt x="128731" y="40684"/>
                </a:cubicBezTo>
                <a:cubicBezTo>
                  <a:pt x="129025" y="40425"/>
                  <a:pt x="129336" y="40166"/>
                  <a:pt x="129612" y="39889"/>
                </a:cubicBezTo>
                <a:cubicBezTo>
                  <a:pt x="129699" y="39786"/>
                  <a:pt x="129768" y="39647"/>
                  <a:pt x="129802" y="39509"/>
                </a:cubicBezTo>
                <a:cubicBezTo>
                  <a:pt x="129896" y="39229"/>
                  <a:pt x="130059" y="38963"/>
                  <a:pt x="130355" y="38963"/>
                </a:cubicBezTo>
                <a:cubicBezTo>
                  <a:pt x="130388" y="38963"/>
                  <a:pt x="130423" y="38966"/>
                  <a:pt x="130459" y="38973"/>
                </a:cubicBezTo>
                <a:cubicBezTo>
                  <a:pt x="130822" y="39025"/>
                  <a:pt x="130718" y="39405"/>
                  <a:pt x="130753" y="39665"/>
                </a:cubicBezTo>
                <a:cubicBezTo>
                  <a:pt x="130885" y="40368"/>
                  <a:pt x="131150" y="40680"/>
                  <a:pt x="131522" y="40680"/>
                </a:cubicBezTo>
                <a:cubicBezTo>
                  <a:pt x="131781" y="40680"/>
                  <a:pt x="132092" y="40529"/>
                  <a:pt x="132446" y="40252"/>
                </a:cubicBezTo>
                <a:cubicBezTo>
                  <a:pt x="132816" y="39963"/>
                  <a:pt x="133198" y="39825"/>
                  <a:pt x="133552" y="39825"/>
                </a:cubicBezTo>
                <a:cubicBezTo>
                  <a:pt x="134190" y="39825"/>
                  <a:pt x="134735" y="40276"/>
                  <a:pt x="134935" y="41099"/>
                </a:cubicBezTo>
                <a:cubicBezTo>
                  <a:pt x="135004" y="41410"/>
                  <a:pt x="135246" y="41911"/>
                  <a:pt x="135436" y="41928"/>
                </a:cubicBezTo>
                <a:cubicBezTo>
                  <a:pt x="136836" y="42067"/>
                  <a:pt x="137130" y="43259"/>
                  <a:pt x="137441" y="44192"/>
                </a:cubicBezTo>
                <a:cubicBezTo>
                  <a:pt x="137757" y="45176"/>
                  <a:pt x="138205" y="45491"/>
                  <a:pt x="138710" y="45491"/>
                </a:cubicBezTo>
                <a:cubicBezTo>
                  <a:pt x="139226" y="45491"/>
                  <a:pt x="139803" y="45163"/>
                  <a:pt x="140361" y="44884"/>
                </a:cubicBezTo>
                <a:cubicBezTo>
                  <a:pt x="141813" y="44175"/>
                  <a:pt x="140586" y="43363"/>
                  <a:pt x="140327" y="42654"/>
                </a:cubicBezTo>
                <a:cubicBezTo>
                  <a:pt x="140188" y="42188"/>
                  <a:pt x="139739" y="41773"/>
                  <a:pt x="139324" y="41479"/>
                </a:cubicBezTo>
                <a:cubicBezTo>
                  <a:pt x="137717" y="40356"/>
                  <a:pt x="137648" y="38921"/>
                  <a:pt x="138305" y="37245"/>
                </a:cubicBezTo>
                <a:cubicBezTo>
                  <a:pt x="138533" y="36644"/>
                  <a:pt x="138753" y="36160"/>
                  <a:pt x="139216" y="36160"/>
                </a:cubicBezTo>
                <a:cubicBezTo>
                  <a:pt x="139418" y="36160"/>
                  <a:pt x="139666" y="36252"/>
                  <a:pt x="139981" y="36468"/>
                </a:cubicBezTo>
                <a:cubicBezTo>
                  <a:pt x="140121" y="36569"/>
                  <a:pt x="140268" y="36617"/>
                  <a:pt x="140413" y="36617"/>
                </a:cubicBezTo>
                <a:cubicBezTo>
                  <a:pt x="140661" y="36617"/>
                  <a:pt x="140902" y="36477"/>
                  <a:pt x="141087" y="36226"/>
                </a:cubicBezTo>
                <a:cubicBezTo>
                  <a:pt x="142573" y="34255"/>
                  <a:pt x="142850" y="29797"/>
                  <a:pt x="141640" y="27706"/>
                </a:cubicBezTo>
                <a:cubicBezTo>
                  <a:pt x="141485" y="27447"/>
                  <a:pt x="141104" y="27187"/>
                  <a:pt x="141398" y="26807"/>
                </a:cubicBezTo>
                <a:lnTo>
                  <a:pt x="141398" y="26807"/>
                </a:lnTo>
                <a:cubicBezTo>
                  <a:pt x="141623" y="26997"/>
                  <a:pt x="141917" y="27153"/>
                  <a:pt x="142072" y="27395"/>
                </a:cubicBezTo>
                <a:cubicBezTo>
                  <a:pt x="142988" y="28812"/>
                  <a:pt x="143869" y="30229"/>
                  <a:pt x="144733" y="31663"/>
                </a:cubicBezTo>
                <a:cubicBezTo>
                  <a:pt x="144984" y="32062"/>
                  <a:pt x="145261" y="32460"/>
                  <a:pt x="145713" y="32460"/>
                </a:cubicBezTo>
                <a:cubicBezTo>
                  <a:pt x="145790" y="32460"/>
                  <a:pt x="145872" y="32449"/>
                  <a:pt x="145960" y="32424"/>
                </a:cubicBezTo>
                <a:cubicBezTo>
                  <a:pt x="146323" y="32320"/>
                  <a:pt x="146825" y="32043"/>
                  <a:pt x="146928" y="31750"/>
                </a:cubicBezTo>
                <a:cubicBezTo>
                  <a:pt x="147118" y="31197"/>
                  <a:pt x="146496" y="30972"/>
                  <a:pt x="146151" y="30644"/>
                </a:cubicBezTo>
                <a:cubicBezTo>
                  <a:pt x="145805" y="30298"/>
                  <a:pt x="144889" y="29935"/>
                  <a:pt x="145511" y="29348"/>
                </a:cubicBezTo>
                <a:cubicBezTo>
                  <a:pt x="146220" y="28674"/>
                  <a:pt x="145701" y="28363"/>
                  <a:pt x="145373" y="27982"/>
                </a:cubicBezTo>
                <a:cubicBezTo>
                  <a:pt x="144924" y="27464"/>
                  <a:pt x="144353" y="27049"/>
                  <a:pt x="143904" y="26513"/>
                </a:cubicBezTo>
                <a:cubicBezTo>
                  <a:pt x="142452" y="24803"/>
                  <a:pt x="140309" y="24008"/>
                  <a:pt x="138927" y="23455"/>
                </a:cubicBezTo>
                <a:cubicBezTo>
                  <a:pt x="137233" y="22781"/>
                  <a:pt x="135350" y="23368"/>
                  <a:pt x="133794" y="22349"/>
                </a:cubicBezTo>
                <a:cubicBezTo>
                  <a:pt x="133621" y="22228"/>
                  <a:pt x="133120" y="22141"/>
                  <a:pt x="133379" y="21934"/>
                </a:cubicBezTo>
                <a:cubicBezTo>
                  <a:pt x="134416" y="21156"/>
                  <a:pt x="134192" y="19843"/>
                  <a:pt x="134814" y="18910"/>
                </a:cubicBezTo>
                <a:cubicBezTo>
                  <a:pt x="135183" y="18357"/>
                  <a:pt x="137525" y="17996"/>
                  <a:pt x="139389" y="17996"/>
                </a:cubicBezTo>
                <a:cubicBezTo>
                  <a:pt x="140321" y="17996"/>
                  <a:pt x="141133" y="18086"/>
                  <a:pt x="141519" y="18287"/>
                </a:cubicBezTo>
                <a:cubicBezTo>
                  <a:pt x="141913" y="18491"/>
                  <a:pt x="142318" y="18567"/>
                  <a:pt x="142722" y="18567"/>
                </a:cubicBezTo>
                <a:cubicBezTo>
                  <a:pt x="143310" y="18567"/>
                  <a:pt x="143896" y="18407"/>
                  <a:pt x="144440" y="18253"/>
                </a:cubicBezTo>
                <a:cubicBezTo>
                  <a:pt x="145183" y="18028"/>
                  <a:pt x="144301" y="17320"/>
                  <a:pt x="144440" y="16905"/>
                </a:cubicBezTo>
                <a:cubicBezTo>
                  <a:pt x="144595" y="16473"/>
                  <a:pt x="144232" y="15764"/>
                  <a:pt x="144803" y="15626"/>
                </a:cubicBezTo>
                <a:cubicBezTo>
                  <a:pt x="144894" y="15602"/>
                  <a:pt x="144986" y="15590"/>
                  <a:pt x="145078" y="15590"/>
                </a:cubicBezTo>
                <a:cubicBezTo>
                  <a:pt x="145503" y="15590"/>
                  <a:pt x="145922" y="15838"/>
                  <a:pt x="146306" y="16179"/>
                </a:cubicBezTo>
                <a:cubicBezTo>
                  <a:pt x="146709" y="16532"/>
                  <a:pt x="147171" y="16997"/>
                  <a:pt x="147617" y="16997"/>
                </a:cubicBezTo>
                <a:cubicBezTo>
                  <a:pt x="147935" y="16997"/>
                  <a:pt x="148244" y="16760"/>
                  <a:pt x="148518" y="16075"/>
                </a:cubicBezTo>
                <a:cubicBezTo>
                  <a:pt x="148584" y="15900"/>
                  <a:pt x="148692" y="15801"/>
                  <a:pt x="148828" y="15801"/>
                </a:cubicBezTo>
                <a:cubicBezTo>
                  <a:pt x="148906" y="15801"/>
                  <a:pt x="148994" y="15833"/>
                  <a:pt x="149088" y="15903"/>
                </a:cubicBezTo>
                <a:cubicBezTo>
                  <a:pt x="149348" y="16110"/>
                  <a:pt x="149348" y="16335"/>
                  <a:pt x="149192" y="16646"/>
                </a:cubicBezTo>
                <a:cubicBezTo>
                  <a:pt x="148743" y="17596"/>
                  <a:pt x="147965" y="18547"/>
                  <a:pt x="147965" y="19497"/>
                </a:cubicBezTo>
                <a:cubicBezTo>
                  <a:pt x="147931" y="21122"/>
                  <a:pt x="148708" y="22677"/>
                  <a:pt x="150022" y="23627"/>
                </a:cubicBezTo>
                <a:cubicBezTo>
                  <a:pt x="151231" y="24561"/>
                  <a:pt x="152631" y="25269"/>
                  <a:pt x="153582" y="26513"/>
                </a:cubicBezTo>
                <a:cubicBezTo>
                  <a:pt x="153835" y="26852"/>
                  <a:pt x="154112" y="27339"/>
                  <a:pt x="154580" y="27339"/>
                </a:cubicBezTo>
                <a:cubicBezTo>
                  <a:pt x="154686" y="27339"/>
                  <a:pt x="154802" y="27314"/>
                  <a:pt x="154930" y="27257"/>
                </a:cubicBezTo>
                <a:cubicBezTo>
                  <a:pt x="155621" y="26928"/>
                  <a:pt x="155673" y="26271"/>
                  <a:pt x="155604" y="25615"/>
                </a:cubicBezTo>
                <a:cubicBezTo>
                  <a:pt x="155448" y="24025"/>
                  <a:pt x="155863" y="22435"/>
                  <a:pt x="154739" y="20845"/>
                </a:cubicBezTo>
                <a:cubicBezTo>
                  <a:pt x="154065" y="19877"/>
                  <a:pt x="153772" y="18823"/>
                  <a:pt x="152406" y="18737"/>
                </a:cubicBezTo>
                <a:cubicBezTo>
                  <a:pt x="152044" y="18720"/>
                  <a:pt x="151940" y="18478"/>
                  <a:pt x="151888" y="18201"/>
                </a:cubicBezTo>
                <a:cubicBezTo>
                  <a:pt x="151820" y="17931"/>
                  <a:pt x="151918" y="17578"/>
                  <a:pt x="152229" y="17578"/>
                </a:cubicBezTo>
                <a:cubicBezTo>
                  <a:pt x="152236" y="17578"/>
                  <a:pt x="152243" y="17579"/>
                  <a:pt x="152251" y="17579"/>
                </a:cubicBezTo>
                <a:cubicBezTo>
                  <a:pt x="152284" y="17581"/>
                  <a:pt x="152317" y="17582"/>
                  <a:pt x="152350" y="17582"/>
                </a:cubicBezTo>
                <a:cubicBezTo>
                  <a:pt x="153000" y="17582"/>
                  <a:pt x="153628" y="17254"/>
                  <a:pt x="154277" y="17254"/>
                </a:cubicBezTo>
                <a:cubicBezTo>
                  <a:pt x="154558" y="17254"/>
                  <a:pt x="154844" y="17316"/>
                  <a:pt x="155137" y="17493"/>
                </a:cubicBezTo>
                <a:cubicBezTo>
                  <a:pt x="155393" y="17649"/>
                  <a:pt x="155627" y="17726"/>
                  <a:pt x="155836" y="17726"/>
                </a:cubicBezTo>
                <a:cubicBezTo>
                  <a:pt x="156249" y="17726"/>
                  <a:pt x="156566" y="17427"/>
                  <a:pt x="156761" y="16853"/>
                </a:cubicBezTo>
                <a:cubicBezTo>
                  <a:pt x="157072" y="15920"/>
                  <a:pt x="157954" y="15505"/>
                  <a:pt x="158662" y="15039"/>
                </a:cubicBezTo>
                <a:cubicBezTo>
                  <a:pt x="158771" y="14969"/>
                  <a:pt x="158912" y="14953"/>
                  <a:pt x="159064" y="14953"/>
                </a:cubicBezTo>
                <a:cubicBezTo>
                  <a:pt x="159192" y="14953"/>
                  <a:pt x="159327" y="14964"/>
                  <a:pt x="159458" y="14964"/>
                </a:cubicBezTo>
                <a:cubicBezTo>
                  <a:pt x="159792" y="14964"/>
                  <a:pt x="160100" y="14892"/>
                  <a:pt x="160183" y="14382"/>
                </a:cubicBezTo>
                <a:cubicBezTo>
                  <a:pt x="160304" y="13501"/>
                  <a:pt x="159475" y="13310"/>
                  <a:pt x="158887" y="12965"/>
                </a:cubicBezTo>
                <a:cubicBezTo>
                  <a:pt x="158662" y="12827"/>
                  <a:pt x="158334" y="12550"/>
                  <a:pt x="158351" y="12395"/>
                </a:cubicBezTo>
                <a:cubicBezTo>
                  <a:pt x="158404" y="12154"/>
                  <a:pt x="158582" y="12097"/>
                  <a:pt x="158776" y="12097"/>
                </a:cubicBezTo>
                <a:cubicBezTo>
                  <a:pt x="158903" y="12097"/>
                  <a:pt x="159037" y="12122"/>
                  <a:pt x="159146" y="12135"/>
                </a:cubicBezTo>
                <a:cubicBezTo>
                  <a:pt x="160460" y="12308"/>
                  <a:pt x="161652" y="12999"/>
                  <a:pt x="163017" y="12999"/>
                </a:cubicBezTo>
                <a:cubicBezTo>
                  <a:pt x="163570" y="12999"/>
                  <a:pt x="163795" y="12913"/>
                  <a:pt x="164002" y="12274"/>
                </a:cubicBezTo>
                <a:cubicBezTo>
                  <a:pt x="164745" y="10182"/>
                  <a:pt x="163311" y="10010"/>
                  <a:pt x="161998" y="9923"/>
                </a:cubicBezTo>
                <a:cubicBezTo>
                  <a:pt x="160218" y="9820"/>
                  <a:pt x="158438" y="9543"/>
                  <a:pt x="156710" y="9076"/>
                </a:cubicBezTo>
                <a:cubicBezTo>
                  <a:pt x="153313" y="8169"/>
                  <a:pt x="149984" y="6872"/>
                  <a:pt x="146431" y="6872"/>
                </a:cubicBezTo>
                <a:cubicBezTo>
                  <a:pt x="145249" y="6872"/>
                  <a:pt x="144041" y="7016"/>
                  <a:pt x="142798" y="7366"/>
                </a:cubicBezTo>
                <a:cubicBezTo>
                  <a:pt x="142441" y="7468"/>
                  <a:pt x="142044" y="7507"/>
                  <a:pt x="141624" y="7507"/>
                </a:cubicBezTo>
                <a:cubicBezTo>
                  <a:pt x="140475" y="7507"/>
                  <a:pt x="139148" y="7211"/>
                  <a:pt x="137959" y="7072"/>
                </a:cubicBezTo>
                <a:cubicBezTo>
                  <a:pt x="135760" y="6810"/>
                  <a:pt x="133765" y="5577"/>
                  <a:pt x="131513" y="5577"/>
                </a:cubicBezTo>
                <a:cubicBezTo>
                  <a:pt x="131235" y="5577"/>
                  <a:pt x="130953" y="5596"/>
                  <a:pt x="130666" y="5637"/>
                </a:cubicBezTo>
                <a:cubicBezTo>
                  <a:pt x="130197" y="5701"/>
                  <a:pt x="129713" y="5752"/>
                  <a:pt x="129231" y="5752"/>
                </a:cubicBezTo>
                <a:cubicBezTo>
                  <a:pt x="128525" y="5752"/>
                  <a:pt x="127823" y="5641"/>
                  <a:pt x="127175" y="5292"/>
                </a:cubicBezTo>
                <a:cubicBezTo>
                  <a:pt x="124583" y="3857"/>
                  <a:pt x="121352" y="4808"/>
                  <a:pt x="118811" y="3097"/>
                </a:cubicBezTo>
                <a:cubicBezTo>
                  <a:pt x="118623" y="2965"/>
                  <a:pt x="118385" y="2894"/>
                  <a:pt x="118144" y="2894"/>
                </a:cubicBezTo>
                <a:cubicBezTo>
                  <a:pt x="117786" y="2894"/>
                  <a:pt x="117421" y="3050"/>
                  <a:pt x="117204" y="3391"/>
                </a:cubicBezTo>
                <a:cubicBezTo>
                  <a:pt x="116737" y="4117"/>
                  <a:pt x="117601" y="4134"/>
                  <a:pt x="117930" y="4462"/>
                </a:cubicBezTo>
                <a:cubicBezTo>
                  <a:pt x="118103" y="4670"/>
                  <a:pt x="118154" y="4946"/>
                  <a:pt x="118068" y="5188"/>
                </a:cubicBezTo>
                <a:cubicBezTo>
                  <a:pt x="117958" y="5398"/>
                  <a:pt x="116241" y="5510"/>
                  <a:pt x="114740" y="5510"/>
                </a:cubicBezTo>
                <a:cubicBezTo>
                  <a:pt x="113645" y="5510"/>
                  <a:pt x="112664" y="5450"/>
                  <a:pt x="112503" y="5326"/>
                </a:cubicBezTo>
                <a:cubicBezTo>
                  <a:pt x="111242" y="4410"/>
                  <a:pt x="109825" y="3719"/>
                  <a:pt x="108321" y="3287"/>
                </a:cubicBezTo>
                <a:cubicBezTo>
                  <a:pt x="108108" y="3224"/>
                  <a:pt x="107902" y="3198"/>
                  <a:pt x="107703" y="3198"/>
                </a:cubicBezTo>
                <a:cubicBezTo>
                  <a:pt x="106742" y="3198"/>
                  <a:pt x="105934" y="3807"/>
                  <a:pt x="105084" y="3807"/>
                </a:cubicBezTo>
                <a:cubicBezTo>
                  <a:pt x="105000" y="3807"/>
                  <a:pt x="104915" y="3801"/>
                  <a:pt x="104830" y="3788"/>
                </a:cubicBezTo>
                <a:cubicBezTo>
                  <a:pt x="102083" y="3391"/>
                  <a:pt x="99266" y="3909"/>
                  <a:pt x="96760" y="1559"/>
                </a:cubicBezTo>
                <a:cubicBezTo>
                  <a:pt x="95295" y="185"/>
                  <a:pt x="93272" y="50"/>
                  <a:pt x="91223" y="50"/>
                </a:cubicBezTo>
                <a:cubicBezTo>
                  <a:pt x="90718" y="50"/>
                  <a:pt x="90212" y="58"/>
                  <a:pt x="89713" y="58"/>
                </a:cubicBezTo>
                <a:cubicBezTo>
                  <a:pt x="89152" y="58"/>
                  <a:pt x="88600" y="48"/>
                  <a:pt x="88067" y="4"/>
                </a:cubicBezTo>
                <a:cubicBezTo>
                  <a:pt x="88037" y="2"/>
                  <a:pt x="88007" y="1"/>
                  <a:pt x="87976" y="1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8" name="Google Shape;468;p57"/>
          <p:cNvSpPr/>
          <p:nvPr/>
        </p:nvSpPr>
        <p:spPr>
          <a:xfrm>
            <a:off x="4528208" y="1762030"/>
            <a:ext cx="74499" cy="74499"/>
          </a:xfrm>
          <a:custGeom>
            <a:avLst/>
            <a:gdLst/>
            <a:ahLst/>
            <a:cxnLst/>
            <a:rect l="l" t="t" r="r" b="b"/>
            <a:pathLst>
              <a:path w="4633" h="4633" extrusionOk="0">
                <a:moveTo>
                  <a:pt x="2966" y="1"/>
                </a:moveTo>
                <a:cubicBezTo>
                  <a:pt x="2951" y="1"/>
                  <a:pt x="2936" y="1"/>
                  <a:pt x="2921" y="1"/>
                </a:cubicBezTo>
                <a:cubicBezTo>
                  <a:pt x="1729" y="36"/>
                  <a:pt x="1" y="2421"/>
                  <a:pt x="139" y="3803"/>
                </a:cubicBezTo>
                <a:cubicBezTo>
                  <a:pt x="139" y="4252"/>
                  <a:pt x="502" y="4615"/>
                  <a:pt x="951" y="4633"/>
                </a:cubicBezTo>
                <a:cubicBezTo>
                  <a:pt x="2956" y="4581"/>
                  <a:pt x="4632" y="3026"/>
                  <a:pt x="4529" y="1297"/>
                </a:cubicBezTo>
                <a:cubicBezTo>
                  <a:pt x="4478" y="482"/>
                  <a:pt x="3809" y="1"/>
                  <a:pt x="2966" y="1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57"/>
          <p:cNvSpPr/>
          <p:nvPr/>
        </p:nvSpPr>
        <p:spPr>
          <a:xfrm>
            <a:off x="5626697" y="1366317"/>
            <a:ext cx="103394" cy="42548"/>
          </a:xfrm>
          <a:custGeom>
            <a:avLst/>
            <a:gdLst/>
            <a:ahLst/>
            <a:cxnLst/>
            <a:rect l="l" t="t" r="r" b="b"/>
            <a:pathLst>
              <a:path w="6430" h="2646" extrusionOk="0">
                <a:moveTo>
                  <a:pt x="1040" y="1"/>
                </a:moveTo>
                <a:cubicBezTo>
                  <a:pt x="589" y="1"/>
                  <a:pt x="239" y="358"/>
                  <a:pt x="104" y="814"/>
                </a:cubicBezTo>
                <a:cubicBezTo>
                  <a:pt x="1" y="1108"/>
                  <a:pt x="191" y="1419"/>
                  <a:pt x="502" y="1470"/>
                </a:cubicBezTo>
                <a:cubicBezTo>
                  <a:pt x="1971" y="1885"/>
                  <a:pt x="3440" y="2283"/>
                  <a:pt x="4736" y="2646"/>
                </a:cubicBezTo>
                <a:cubicBezTo>
                  <a:pt x="5427" y="2611"/>
                  <a:pt x="5928" y="2611"/>
                  <a:pt x="6239" y="2127"/>
                </a:cubicBezTo>
                <a:cubicBezTo>
                  <a:pt x="6429" y="1851"/>
                  <a:pt x="6308" y="1470"/>
                  <a:pt x="6066" y="1419"/>
                </a:cubicBezTo>
                <a:cubicBezTo>
                  <a:pt x="4373" y="1021"/>
                  <a:pt x="2852" y="36"/>
                  <a:pt x="1072" y="2"/>
                </a:cubicBezTo>
                <a:cubicBezTo>
                  <a:pt x="1061" y="1"/>
                  <a:pt x="1051" y="1"/>
                  <a:pt x="1040" y="1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57"/>
          <p:cNvSpPr/>
          <p:nvPr/>
        </p:nvSpPr>
        <p:spPr>
          <a:xfrm>
            <a:off x="5160956" y="1364661"/>
            <a:ext cx="71717" cy="30439"/>
          </a:xfrm>
          <a:custGeom>
            <a:avLst/>
            <a:gdLst/>
            <a:ahLst/>
            <a:cxnLst/>
            <a:rect l="l" t="t" r="r" b="b"/>
            <a:pathLst>
              <a:path w="4460" h="1893" extrusionOk="0">
                <a:moveTo>
                  <a:pt x="1539" y="105"/>
                </a:moveTo>
                <a:cubicBezTo>
                  <a:pt x="969" y="243"/>
                  <a:pt x="139" y="1"/>
                  <a:pt x="70" y="744"/>
                </a:cubicBezTo>
                <a:cubicBezTo>
                  <a:pt x="1" y="1418"/>
                  <a:pt x="813" y="1418"/>
                  <a:pt x="1332" y="1556"/>
                </a:cubicBezTo>
                <a:cubicBezTo>
                  <a:pt x="1764" y="1677"/>
                  <a:pt x="2213" y="1764"/>
                  <a:pt x="2645" y="1815"/>
                </a:cubicBezTo>
                <a:cubicBezTo>
                  <a:pt x="2898" y="1847"/>
                  <a:pt x="3179" y="1893"/>
                  <a:pt x="3440" y="1893"/>
                </a:cubicBezTo>
                <a:cubicBezTo>
                  <a:pt x="3890" y="1893"/>
                  <a:pt x="4279" y="1756"/>
                  <a:pt x="4356" y="1176"/>
                </a:cubicBezTo>
                <a:cubicBezTo>
                  <a:pt x="4459" y="346"/>
                  <a:pt x="3561" y="416"/>
                  <a:pt x="2956" y="329"/>
                </a:cubicBezTo>
                <a:lnTo>
                  <a:pt x="1539" y="105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57"/>
          <p:cNvSpPr/>
          <p:nvPr/>
        </p:nvSpPr>
        <p:spPr>
          <a:xfrm>
            <a:off x="5246550" y="1359660"/>
            <a:ext cx="56103" cy="32256"/>
          </a:xfrm>
          <a:custGeom>
            <a:avLst/>
            <a:gdLst/>
            <a:ahLst/>
            <a:cxnLst/>
            <a:rect l="l" t="t" r="r" b="b"/>
            <a:pathLst>
              <a:path w="3489" h="2006" extrusionOk="0">
                <a:moveTo>
                  <a:pt x="2519" y="46"/>
                </a:moveTo>
                <a:cubicBezTo>
                  <a:pt x="2407" y="46"/>
                  <a:pt x="2296" y="60"/>
                  <a:pt x="2195" y="87"/>
                </a:cubicBezTo>
                <a:cubicBezTo>
                  <a:pt x="1435" y="312"/>
                  <a:pt x="191" y="1"/>
                  <a:pt x="87" y="1107"/>
                </a:cubicBezTo>
                <a:cubicBezTo>
                  <a:pt x="1" y="1798"/>
                  <a:pt x="986" y="1746"/>
                  <a:pt x="1642" y="1781"/>
                </a:cubicBezTo>
                <a:cubicBezTo>
                  <a:pt x="2299" y="1556"/>
                  <a:pt x="3422" y="2005"/>
                  <a:pt x="3474" y="813"/>
                </a:cubicBezTo>
                <a:cubicBezTo>
                  <a:pt x="3488" y="284"/>
                  <a:pt x="2986" y="46"/>
                  <a:pt x="2519" y="46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57"/>
          <p:cNvSpPr/>
          <p:nvPr/>
        </p:nvSpPr>
        <p:spPr>
          <a:xfrm>
            <a:off x="5315196" y="1365770"/>
            <a:ext cx="39894" cy="25583"/>
          </a:xfrm>
          <a:custGeom>
            <a:avLst/>
            <a:gdLst/>
            <a:ahLst/>
            <a:cxnLst/>
            <a:rect l="l" t="t" r="r" b="b"/>
            <a:pathLst>
              <a:path w="2481" h="1591" extrusionOk="0">
                <a:moveTo>
                  <a:pt x="1811" y="155"/>
                </a:moveTo>
                <a:cubicBezTo>
                  <a:pt x="1713" y="155"/>
                  <a:pt x="1613" y="168"/>
                  <a:pt x="1521" y="191"/>
                </a:cubicBezTo>
                <a:cubicBezTo>
                  <a:pt x="985" y="312"/>
                  <a:pt x="121" y="1"/>
                  <a:pt x="52" y="917"/>
                </a:cubicBezTo>
                <a:cubicBezTo>
                  <a:pt x="0" y="1487"/>
                  <a:pt x="536" y="1574"/>
                  <a:pt x="1054" y="1591"/>
                </a:cubicBezTo>
                <a:cubicBezTo>
                  <a:pt x="1573" y="1418"/>
                  <a:pt x="2385" y="1556"/>
                  <a:pt x="2454" y="727"/>
                </a:cubicBezTo>
                <a:cubicBezTo>
                  <a:pt x="2481" y="311"/>
                  <a:pt x="2153" y="155"/>
                  <a:pt x="1811" y="155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57"/>
          <p:cNvSpPr/>
          <p:nvPr/>
        </p:nvSpPr>
        <p:spPr>
          <a:xfrm>
            <a:off x="3845998" y="1370787"/>
            <a:ext cx="334593" cy="61136"/>
          </a:xfrm>
          <a:custGeom>
            <a:avLst/>
            <a:gdLst/>
            <a:ahLst/>
            <a:cxnLst/>
            <a:rect l="l" t="t" r="r" b="b"/>
            <a:pathLst>
              <a:path w="20808" h="3802" extrusionOk="0">
                <a:moveTo>
                  <a:pt x="20756" y="0"/>
                </a:moveTo>
                <a:lnTo>
                  <a:pt x="20738" y="17"/>
                </a:lnTo>
                <a:lnTo>
                  <a:pt x="20773" y="17"/>
                </a:lnTo>
                <a:lnTo>
                  <a:pt x="20808" y="0"/>
                </a:lnTo>
                <a:close/>
                <a:moveTo>
                  <a:pt x="1" y="3785"/>
                </a:moveTo>
                <a:lnTo>
                  <a:pt x="1" y="3802"/>
                </a:lnTo>
                <a:lnTo>
                  <a:pt x="18" y="3802"/>
                </a:lnTo>
                <a:lnTo>
                  <a:pt x="18" y="3785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57"/>
          <p:cNvSpPr/>
          <p:nvPr/>
        </p:nvSpPr>
        <p:spPr>
          <a:xfrm>
            <a:off x="5255169" y="1528950"/>
            <a:ext cx="35312" cy="24377"/>
          </a:xfrm>
          <a:custGeom>
            <a:avLst/>
            <a:gdLst/>
            <a:ahLst/>
            <a:cxnLst/>
            <a:rect l="l" t="t" r="r" b="b"/>
            <a:pathLst>
              <a:path w="2196" h="1516" extrusionOk="0">
                <a:moveTo>
                  <a:pt x="1013" y="0"/>
                </a:moveTo>
                <a:cubicBezTo>
                  <a:pt x="676" y="0"/>
                  <a:pt x="369" y="181"/>
                  <a:pt x="190" y="464"/>
                </a:cubicBezTo>
                <a:cubicBezTo>
                  <a:pt x="0" y="706"/>
                  <a:pt x="35" y="1034"/>
                  <a:pt x="259" y="1224"/>
                </a:cubicBezTo>
                <a:cubicBezTo>
                  <a:pt x="466" y="1444"/>
                  <a:pt x="678" y="1515"/>
                  <a:pt x="892" y="1515"/>
                </a:cubicBezTo>
                <a:cubicBezTo>
                  <a:pt x="1233" y="1515"/>
                  <a:pt x="1579" y="1336"/>
                  <a:pt x="1919" y="1293"/>
                </a:cubicBezTo>
                <a:cubicBezTo>
                  <a:pt x="2195" y="567"/>
                  <a:pt x="1901" y="153"/>
                  <a:pt x="1175" y="14"/>
                </a:cubicBezTo>
                <a:cubicBezTo>
                  <a:pt x="1121" y="5"/>
                  <a:pt x="1066" y="0"/>
                  <a:pt x="1013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57"/>
          <p:cNvSpPr/>
          <p:nvPr/>
        </p:nvSpPr>
        <p:spPr>
          <a:xfrm>
            <a:off x="4778863" y="1982406"/>
            <a:ext cx="34476" cy="81156"/>
          </a:xfrm>
          <a:custGeom>
            <a:avLst/>
            <a:gdLst/>
            <a:ahLst/>
            <a:cxnLst/>
            <a:rect l="l" t="t" r="r" b="b"/>
            <a:pathLst>
              <a:path w="2144" h="5047" extrusionOk="0">
                <a:moveTo>
                  <a:pt x="1297" y="0"/>
                </a:moveTo>
                <a:cubicBezTo>
                  <a:pt x="778" y="0"/>
                  <a:pt x="260" y="363"/>
                  <a:pt x="364" y="795"/>
                </a:cubicBezTo>
                <a:cubicBezTo>
                  <a:pt x="640" y="1850"/>
                  <a:pt x="122" y="2731"/>
                  <a:pt x="1" y="3491"/>
                </a:cubicBezTo>
                <a:cubicBezTo>
                  <a:pt x="70" y="4338"/>
                  <a:pt x="1" y="5047"/>
                  <a:pt x="951" y="5047"/>
                </a:cubicBezTo>
                <a:cubicBezTo>
                  <a:pt x="1781" y="5047"/>
                  <a:pt x="1971" y="4476"/>
                  <a:pt x="2040" y="3785"/>
                </a:cubicBezTo>
                <a:cubicBezTo>
                  <a:pt x="2144" y="2748"/>
                  <a:pt x="1642" y="1746"/>
                  <a:pt x="1936" y="692"/>
                </a:cubicBezTo>
                <a:cubicBezTo>
                  <a:pt x="2023" y="381"/>
                  <a:pt x="1712" y="0"/>
                  <a:pt x="1297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57"/>
          <p:cNvSpPr/>
          <p:nvPr/>
        </p:nvSpPr>
        <p:spPr>
          <a:xfrm>
            <a:off x="5009788" y="2114954"/>
            <a:ext cx="60316" cy="29201"/>
          </a:xfrm>
          <a:custGeom>
            <a:avLst/>
            <a:gdLst/>
            <a:ahLst/>
            <a:cxnLst/>
            <a:rect l="l" t="t" r="r" b="b"/>
            <a:pathLst>
              <a:path w="3751" h="1816" extrusionOk="0">
                <a:moveTo>
                  <a:pt x="1383" y="1"/>
                </a:moveTo>
                <a:cubicBezTo>
                  <a:pt x="778" y="87"/>
                  <a:pt x="1" y="18"/>
                  <a:pt x="122" y="640"/>
                </a:cubicBezTo>
                <a:cubicBezTo>
                  <a:pt x="329" y="1625"/>
                  <a:pt x="1297" y="1815"/>
                  <a:pt x="2195" y="1815"/>
                </a:cubicBezTo>
                <a:cubicBezTo>
                  <a:pt x="2835" y="1815"/>
                  <a:pt x="3751" y="1712"/>
                  <a:pt x="3613" y="951"/>
                </a:cubicBezTo>
                <a:cubicBezTo>
                  <a:pt x="3466" y="240"/>
                  <a:pt x="2970" y="188"/>
                  <a:pt x="2455" y="188"/>
                </a:cubicBezTo>
                <a:cubicBezTo>
                  <a:pt x="2366" y="188"/>
                  <a:pt x="2276" y="189"/>
                  <a:pt x="2187" y="189"/>
                </a:cubicBezTo>
                <a:cubicBezTo>
                  <a:pt x="1880" y="189"/>
                  <a:pt x="1588" y="170"/>
                  <a:pt x="1383" y="1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57"/>
          <p:cNvSpPr/>
          <p:nvPr/>
        </p:nvSpPr>
        <p:spPr>
          <a:xfrm>
            <a:off x="5148462" y="2122929"/>
            <a:ext cx="32530" cy="24184"/>
          </a:xfrm>
          <a:custGeom>
            <a:avLst/>
            <a:gdLst/>
            <a:ahLst/>
            <a:cxnLst/>
            <a:rect l="l" t="t" r="r" b="b"/>
            <a:pathLst>
              <a:path w="2023" h="1504" extrusionOk="0">
                <a:moveTo>
                  <a:pt x="1294" y="1"/>
                </a:moveTo>
                <a:cubicBezTo>
                  <a:pt x="1249" y="1"/>
                  <a:pt x="1204" y="3"/>
                  <a:pt x="1158" y="6"/>
                </a:cubicBezTo>
                <a:cubicBezTo>
                  <a:pt x="691" y="144"/>
                  <a:pt x="0" y="109"/>
                  <a:pt x="17" y="904"/>
                </a:cubicBezTo>
                <a:cubicBezTo>
                  <a:pt x="17" y="1352"/>
                  <a:pt x="364" y="1503"/>
                  <a:pt x="748" y="1503"/>
                </a:cubicBezTo>
                <a:cubicBezTo>
                  <a:pt x="809" y="1503"/>
                  <a:pt x="872" y="1499"/>
                  <a:pt x="933" y="1492"/>
                </a:cubicBezTo>
                <a:cubicBezTo>
                  <a:pt x="1486" y="1440"/>
                  <a:pt x="2022" y="1233"/>
                  <a:pt x="2022" y="593"/>
                </a:cubicBezTo>
                <a:cubicBezTo>
                  <a:pt x="2022" y="156"/>
                  <a:pt x="1711" y="1"/>
                  <a:pt x="1294" y="1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57"/>
          <p:cNvSpPr/>
          <p:nvPr/>
        </p:nvSpPr>
        <p:spPr>
          <a:xfrm>
            <a:off x="4691903" y="2035744"/>
            <a:ext cx="28896" cy="24554"/>
          </a:xfrm>
          <a:custGeom>
            <a:avLst/>
            <a:gdLst/>
            <a:ahLst/>
            <a:cxnLst/>
            <a:rect l="l" t="t" r="r" b="b"/>
            <a:pathLst>
              <a:path w="1797" h="1527" extrusionOk="0">
                <a:moveTo>
                  <a:pt x="812" y="0"/>
                </a:moveTo>
                <a:cubicBezTo>
                  <a:pt x="383" y="0"/>
                  <a:pt x="1" y="211"/>
                  <a:pt x="34" y="710"/>
                </a:cubicBezTo>
                <a:cubicBezTo>
                  <a:pt x="34" y="1164"/>
                  <a:pt x="400" y="1527"/>
                  <a:pt x="845" y="1527"/>
                </a:cubicBezTo>
                <a:cubicBezTo>
                  <a:pt x="874" y="1527"/>
                  <a:pt x="903" y="1525"/>
                  <a:pt x="933" y="1522"/>
                </a:cubicBezTo>
                <a:cubicBezTo>
                  <a:pt x="1382" y="1522"/>
                  <a:pt x="1745" y="1315"/>
                  <a:pt x="1797" y="796"/>
                </a:cubicBezTo>
                <a:cubicBezTo>
                  <a:pt x="1745" y="226"/>
                  <a:pt x="1330" y="19"/>
                  <a:pt x="864" y="1"/>
                </a:cubicBezTo>
                <a:cubicBezTo>
                  <a:pt x="847" y="1"/>
                  <a:pt x="829" y="0"/>
                  <a:pt x="812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6" name="Google Shape;506;p57"/>
          <p:cNvCxnSpPr>
            <a:cxnSpLocks/>
            <a:stCxn id="507" idx="3"/>
          </p:cNvCxnSpPr>
          <p:nvPr/>
        </p:nvCxnSpPr>
        <p:spPr>
          <a:xfrm>
            <a:off x="1853619" y="1523318"/>
            <a:ext cx="2805056" cy="65153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508" name="Google Shape;508;p57"/>
          <p:cNvCxnSpPr>
            <a:cxnSpLocks/>
            <a:stCxn id="509" idx="3"/>
          </p:cNvCxnSpPr>
          <p:nvPr/>
        </p:nvCxnSpPr>
        <p:spPr>
          <a:xfrm>
            <a:off x="1853619" y="2547508"/>
            <a:ext cx="3294843" cy="24061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diamond" w="med" len="med"/>
            <a:tailEnd type="diamond" w="med" len="med"/>
          </a:ln>
        </p:spPr>
      </p:cxnSp>
      <p:cxnSp>
        <p:nvCxnSpPr>
          <p:cNvPr id="510" name="Google Shape;510;p57"/>
          <p:cNvCxnSpPr>
            <a:cxnSpLocks/>
            <a:stCxn id="511" idx="3"/>
          </p:cNvCxnSpPr>
          <p:nvPr/>
        </p:nvCxnSpPr>
        <p:spPr>
          <a:xfrm flipV="1">
            <a:off x="1625351" y="3177867"/>
            <a:ext cx="3755417" cy="29541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diamond" w="med" len="med"/>
            <a:tailEnd type="diamond" w="med" len="med"/>
          </a:ln>
        </p:spPr>
      </p:cxnSp>
      <p:sp>
        <p:nvSpPr>
          <p:cNvPr id="515" name="Google Shape;515;p57"/>
          <p:cNvSpPr/>
          <p:nvPr/>
        </p:nvSpPr>
        <p:spPr>
          <a:xfrm>
            <a:off x="6551500" y="186206"/>
            <a:ext cx="2590200" cy="142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2E059-A052-80A5-0EEB-79F9415AB08D}"/>
              </a:ext>
            </a:extLst>
          </p:cNvPr>
          <p:cNvSpPr txBox="1"/>
          <p:nvPr/>
        </p:nvSpPr>
        <p:spPr>
          <a:xfrm>
            <a:off x="459434" y="3591724"/>
            <a:ext cx="1234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bg1"/>
                </a:solidFill>
              </a:rPr>
              <a:t>6,3M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BD8278-C112-6399-BDF2-A918F21555EB}"/>
              </a:ext>
            </a:extLst>
          </p:cNvPr>
          <p:cNvSpPr txBox="1"/>
          <p:nvPr/>
        </p:nvSpPr>
        <p:spPr>
          <a:xfrm>
            <a:off x="391256" y="2686238"/>
            <a:ext cx="1234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bg1"/>
                </a:solidFill>
              </a:rPr>
              <a:t>6,4M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D6AF3E-D3EB-7BBE-CE6D-90F5EA38061B}"/>
              </a:ext>
            </a:extLst>
          </p:cNvPr>
          <p:cNvSpPr txBox="1"/>
          <p:nvPr/>
        </p:nvSpPr>
        <p:spPr>
          <a:xfrm>
            <a:off x="456975" y="1660188"/>
            <a:ext cx="1234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bg1"/>
                </a:solidFill>
              </a:rPr>
              <a:t>6,9M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410</Words>
  <Application>Microsoft Office PowerPoint</Application>
  <PresentationFormat>On-screen Show (16:9)</PresentationFormat>
  <Paragraphs>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Proxima Nova</vt:lpstr>
      <vt:lpstr>Josefin Sans</vt:lpstr>
      <vt:lpstr>Epilogue</vt:lpstr>
      <vt:lpstr>Proxima Nova Semibold</vt:lpstr>
      <vt:lpstr>Slidesgo Final Pages</vt:lpstr>
      <vt:lpstr>Bright Mart Retail Sales Analysis</vt:lpstr>
      <vt:lpstr>Bright Mart Retail Problem Statement</vt:lpstr>
      <vt:lpstr>Sales Analysis</vt:lpstr>
      <vt:lpstr>44M</vt:lpstr>
      <vt:lpstr>Product Analysis</vt:lpstr>
      <vt:lpstr>PowerPoint Presentation</vt:lpstr>
      <vt:lpstr>Customer  Analysis</vt:lpstr>
      <vt:lpstr>4,2M</vt:lpstr>
      <vt:lpstr>Top performing Provinces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 Sako</cp:lastModifiedBy>
  <cp:revision>11</cp:revision>
  <dcterms:modified xsi:type="dcterms:W3CDTF">2025-12-12T08:59:05Z</dcterms:modified>
</cp:coreProperties>
</file>